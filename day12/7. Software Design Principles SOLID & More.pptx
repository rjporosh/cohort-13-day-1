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oboto"/>
      <p:regular r:id="rId45"/>
      <p:bold r:id="rId46"/>
      <p:italic r:id="rId47"/>
      <p:boldItalic r:id="rId48"/>
    </p:embeddedFont>
    <p:embeddedFont>
      <p:font typeface="Roboto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Roboto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Light-italic.fntdata"/><Relationship Id="rId50" Type="http://schemas.openxmlformats.org/officeDocument/2006/relationships/font" Target="fonts/RobotoLight-bold.fntdata"/><Relationship Id="rId52" Type="http://schemas.openxmlformats.org/officeDocument/2006/relationships/font" Target="fonts/Roboto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tnext.io/solid-principles-explanation-and-examples-715b975dcad4"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tnext.io/solid-principles-explanation-and-examples-715b975dcad4"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tnext.io/solid-principles-explanation-and-examples-715b975dcad4"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deproject.com/Articles/615139/An-Absolute-Beginners-Tutorial-on-Dependency-Inver"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105a0fbdf_0_1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1105a0fbdf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105a0fbdf_0_5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1105a0fbdf_0_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1105a0fbdf_0_2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1105a0fbdf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105a0fbdf_0_2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1105a0fbdf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105a0fbdf_0_2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1105a0fbdf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1105a0fbdf_0_2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1105a0fbdf_0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105a0fbdf_0_2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1105a0fbdf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105a0fbdf_0_2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1105a0fbdf_0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105a0fbdf_0_24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1105a0fbdf_0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105a0fbdf_0_25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1105a0fbdf_0_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105a0fbdf_0_2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1105a0fbdf_0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105a0fbdf_0_27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1105a0fbdf_0_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105a0fbdf_0_2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1105a0fbdf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105a0fbdf_0_28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1105a0fbdf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105a0fbdf_0_2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1105a0fbdf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105a0fbdf_0_29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1105a0fbdf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1105a0fbdf_0_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1105a0fbdf_0_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u="sng">
                <a:solidFill>
                  <a:schemeClr val="hlink"/>
                </a:solidFill>
                <a:hlinkClick r:id="rId2"/>
              </a:rPr>
              <a:t>https://itnext.io/solid-principles-explanation-and-examples-715b975dcad4</a:t>
            </a:r>
            <a:endParaRPr/>
          </a:p>
          <a:p>
            <a:pPr indent="0" lvl="0" marL="0" rtl="0" algn="l">
              <a:spcBef>
                <a:spcPts val="0"/>
              </a:spcBef>
              <a:spcAft>
                <a:spcPts val="0"/>
              </a:spcAft>
              <a:buNone/>
            </a:pPr>
            <a:r>
              <a:t/>
            </a:r>
            <a:endParaRPr/>
          </a:p>
        </p:txBody>
      </p:sp>
      <p:sp>
        <p:nvSpPr>
          <p:cNvPr id="190" name="Google Shape;190;g31105a0fbdf_0_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105a0fbdf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1105a0fbdf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u="sng">
                <a:solidFill>
                  <a:schemeClr val="hlink"/>
                </a:solidFill>
                <a:hlinkClick r:id="rId2"/>
              </a:rPr>
              <a:t>https://itnext.io/solid-principles-explanation-and-examples-715b975dcad4</a:t>
            </a:r>
            <a:endParaRPr/>
          </a:p>
        </p:txBody>
      </p:sp>
      <p:sp>
        <p:nvSpPr>
          <p:cNvPr id="198" name="Google Shape;198;g31105a0fbdf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af96f3bb1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1af96f3bb1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u="sng">
                <a:solidFill>
                  <a:schemeClr val="hlink"/>
                </a:solidFill>
                <a:hlinkClick r:id="rId2"/>
              </a:rPr>
              <a:t>https://itnext.io/solid-principles-explanation-and-examples-715b975dcad4</a:t>
            </a:r>
            <a:endParaRPr/>
          </a:p>
        </p:txBody>
      </p:sp>
      <p:sp>
        <p:nvSpPr>
          <p:cNvPr id="209" name="Google Shape;209;g31af96f3bb1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105a0fbdf_0_3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1105a0fbdf_0_3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105a0fbdf_0_3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1105a0fbdf_0_3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1105a0fbdf_0_3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1105a0fbdf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1105a0fbdf_0_3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1105a0fbdf_0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105a0fbdf_0_3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1105a0fbdf_0_3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1105a0fbdf_0_3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1105a0fbdf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105a0fbdf_0_38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1105a0fbdf_0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1105a0fbdf_0_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1105a0fbdf_0_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u="sng">
                <a:solidFill>
                  <a:schemeClr val="hlink"/>
                </a:solidFill>
                <a:hlinkClick r:id="rId2"/>
              </a:rPr>
              <a:t>https://www.codeproject.com/Articles/615139/An-Absolute-Beginners-Tutorial-on-Dependency-Inver</a:t>
            </a:r>
            <a:endParaRPr/>
          </a:p>
          <a:p>
            <a:pPr indent="0" lvl="0" marL="0" rtl="0" algn="l">
              <a:spcBef>
                <a:spcPts val="0"/>
              </a:spcBef>
              <a:spcAft>
                <a:spcPts val="0"/>
              </a:spcAft>
              <a:buNone/>
            </a:pPr>
            <a:r>
              <a:t/>
            </a:r>
            <a:endParaRPr/>
          </a:p>
        </p:txBody>
      </p:sp>
      <p:sp>
        <p:nvSpPr>
          <p:cNvPr id="275" name="Google Shape;275;g31105a0fbdf_0_3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1105a0fbdf_0_4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1105a0fbdf_0_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1af96f3bb1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1af96f3b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1105a0fbdf_0_4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1105a0fbdf_0_4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105a0fbdf_0_4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1105a0fbdf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1105a0fbdf_0_4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1105a0fbdf_0_4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105a0fbdf_0_4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1105a0fbdf_0_4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1105a0fbdf_0_4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1105a0fbdf_0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1f2ede585f_0_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1f2ede585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1105a0fbdf_0_4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1105a0fbdf_0_4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1f2ede585f_0_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1f2ede585f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1f2ede585f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1f2ede585f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1105a0fbdf_0_4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1105a0fbdf_0_4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learnwithtiemoon.com/professional-oo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hyperlink" Target="http://learnwithtiemoon.com/professional-oo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http://learnwithtiemoon.com/professional-oo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gif"/><Relationship Id="rId4" Type="http://schemas.openxmlformats.org/officeDocument/2006/relationships/hyperlink" Target="http://learnwithtiemoon.com/professional-oo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gif"/><Relationship Id="rId4" Type="http://schemas.openxmlformats.org/officeDocument/2006/relationships/hyperlink" Target="http://learnwithtiemoon.com/professional-oo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gif"/><Relationship Id="rId4" Type="http://schemas.openxmlformats.org/officeDocument/2006/relationships/hyperlink" Target="http://www.catb.org/esr/writings/taoup/html/ch01s06.html" TargetMode="External"/><Relationship Id="rId5" Type="http://schemas.openxmlformats.org/officeDocument/2006/relationships/hyperlink" Target="http://learnwithtiemoon.com/professional-oo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hyperlink" Target="http://learnwithtiemoon.com/professional-oo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hyperlink" Target="http://learnwithtiemoon.com/professional-oo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hyperlink" Target="http://learnwithtiemoon.com/professional-oo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hyperlink" Target="http://learnwithtiemoon.com/professional-oo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hyperlink" Target="http://learnwithtiemoon.com/professional-oo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hyperlink" Target="http://learnwithtiemoon.com/professional-oo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learnwithtiemoon.com/professional-oo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hyperlink" Target="http://learnwithtiemoon.com/professional-oo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hyperlink" Target="http://learnwithtiemoon.com/professional-oo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hyperlink" Target="http://learnwithtiemoon.com/professional-oo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learnwithtiemoon.com/professional-oo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learnwithtiemoon.com/professional-oo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drive.google.com/drive/folders/1-IeFlKCm4vmmTcYdDFlJr-1fBmOm3ZZt?usp=drive_link" TargetMode="External"/><Relationship Id="rId4" Type="http://schemas.openxmlformats.org/officeDocument/2006/relationships/hyperlink" Target="http://learnwithtiemoon.com/professional-oo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hyperlink" Target="http://learnwithtiemoon.com/professional-oo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hyperlink" Target="http://learnwithtiemoon.com/professional-oop"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hyperlink" Target="http://learnwithtiemoon.com/professional-oo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hyperlink" Target="http://learnwithtiemoon.com/professional-oo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hyperlink" Target="http://learnwithtiemoon.com/professional-oop"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hyperlink" Target="http://learnwithtiemoon.com/professional-oo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hyperlink" Target="http://learnwithtiemoon.com/professional-oop"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hyperlink" Target="http://learnwithtiemoon.com/professional-oop"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hyperlink" Target="http://learnwithtiemoon.com/professional-oop"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hyperlink" Target="http://learnwithtiemoon.com/professional-oop"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hyperlink" Target="http://learnwithtiemoon.com/professional-oop"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hyperlink" Target="http://learnwithtiemoon.com/professional-oo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hyperlink" Target="https://drive.google.com/drive/folders/1jQ-yCNyfObNa8nEe61lBZwLN_c96QEDh" TargetMode="External"/><Relationship Id="rId4" Type="http://schemas.openxmlformats.org/officeDocument/2006/relationships/hyperlink" Target="http://learnwithtiemoon.com/professional-oop"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learnwithtiemoon.com/professional-oop"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6.jpg"/><Relationship Id="rId4" Type="http://schemas.openxmlformats.org/officeDocument/2006/relationships/hyperlink" Target="http://learnwithtiemoon.com/professional-oop"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hyperlink" Target="http://learnwithtiemoon.com/professional-oop"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1.jpg"/><Relationship Id="rId4" Type="http://schemas.openxmlformats.org/officeDocument/2006/relationships/hyperlink" Target="http://learnwithtiemoon.com/professional-oop"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hyperlink" Target="http://learnwithtiemoon.com/professional-oop"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hyperlink" Target="http://learnwithtiemoon.com/professional-oo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27.png"/><Relationship Id="rId4" Type="http://schemas.openxmlformats.org/officeDocument/2006/relationships/hyperlink" Target="http://learnwithtiemoon.com/professional-oo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1141500" y="2050950"/>
            <a:ext cx="6861000" cy="104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 sz="4100">
                <a:latin typeface="Roboto Light"/>
                <a:ea typeface="Roboto Light"/>
                <a:cs typeface="Roboto Light"/>
                <a:sym typeface="Roboto Light"/>
              </a:rPr>
              <a:t>Software Design Principles</a:t>
            </a:r>
            <a:br>
              <a:rPr lang="en" sz="4100">
                <a:latin typeface="Roboto Light"/>
                <a:ea typeface="Roboto Light"/>
                <a:cs typeface="Roboto Light"/>
                <a:sym typeface="Roboto Light"/>
              </a:rPr>
            </a:br>
            <a:r>
              <a:rPr lang="en" sz="4100">
                <a:latin typeface="Roboto Light"/>
                <a:ea typeface="Roboto Light"/>
                <a:cs typeface="Roboto Light"/>
                <a:sym typeface="Roboto Light"/>
              </a:rPr>
              <a:t>SOLID &amp; More</a:t>
            </a:r>
            <a:endParaRPr sz="4100">
              <a:latin typeface="Roboto Light"/>
              <a:ea typeface="Roboto Light"/>
              <a:cs typeface="Roboto Light"/>
              <a:sym typeface="Roboto Light"/>
            </a:endParaRPr>
          </a:p>
        </p:txBody>
      </p:sp>
      <p:sp>
        <p:nvSpPr>
          <p:cNvPr id="61" name="Google Shape;61;p14"/>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5" name="Shape 65"/>
        <p:cNvGrpSpPr/>
        <p:nvPr/>
      </p:nvGrpSpPr>
      <p:grpSpPr>
        <a:xfrm>
          <a:off x="0" y="0"/>
          <a:ext cx="0" cy="0"/>
          <a:chOff x="0" y="0"/>
          <a:chExt cx="0" cy="0"/>
        </a:xfrm>
      </p:grpSpPr>
      <p:sp>
        <p:nvSpPr>
          <p:cNvPr id="66" name="Google Shape;66;p15"/>
          <p:cNvSpPr txBox="1"/>
          <p:nvPr>
            <p:ph idx="1" type="subTitle"/>
          </p:nvPr>
        </p:nvSpPr>
        <p:spPr>
          <a:xfrm>
            <a:off x="0" y="0"/>
            <a:ext cx="3538500" cy="5143500"/>
          </a:xfrm>
          <a:prstGeom prst="rect">
            <a:avLst/>
          </a:prstGeom>
          <a:solidFill>
            <a:srgbClr val="073763"/>
          </a:solid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500"/>
              <a:buNone/>
            </a:pPr>
            <a:r>
              <a:rPr lang="en" sz="2500">
                <a:solidFill>
                  <a:schemeClr val="lt1"/>
                </a:solidFill>
                <a:latin typeface="Roboto Light"/>
                <a:ea typeface="Roboto Light"/>
                <a:cs typeface="Roboto Light"/>
                <a:sym typeface="Roboto Light"/>
              </a:rPr>
              <a:t>Software design </a:t>
            </a:r>
            <a:endParaRPr sz="2500">
              <a:solidFill>
                <a:schemeClr val="lt1"/>
              </a:solidFill>
              <a:latin typeface="Roboto Light"/>
              <a:ea typeface="Roboto Light"/>
              <a:cs typeface="Roboto Light"/>
              <a:sym typeface="Roboto Light"/>
            </a:endParaRPr>
          </a:p>
          <a:p>
            <a:pPr indent="0" lvl="0" marL="0" rtl="0" algn="l">
              <a:spcBef>
                <a:spcPts val="0"/>
              </a:spcBef>
              <a:spcAft>
                <a:spcPts val="0"/>
              </a:spcAft>
              <a:buClr>
                <a:schemeClr val="dk1"/>
              </a:buClr>
              <a:buSzPts val="2500"/>
              <a:buNone/>
            </a:pPr>
            <a:r>
              <a:rPr lang="en" sz="2500">
                <a:solidFill>
                  <a:schemeClr val="lt1"/>
                </a:solidFill>
                <a:latin typeface="Roboto Light"/>
                <a:ea typeface="Roboto Light"/>
                <a:cs typeface="Roboto Light"/>
                <a:sym typeface="Roboto Light"/>
              </a:rPr>
              <a:t>principles represent a set of guidelines that helps us to avoid having a bad design</a:t>
            </a:r>
            <a:endParaRPr sz="2500">
              <a:solidFill>
                <a:schemeClr val="lt1"/>
              </a:solidFill>
              <a:latin typeface="Roboto Light"/>
              <a:ea typeface="Roboto Light"/>
              <a:cs typeface="Roboto Light"/>
              <a:sym typeface="Roboto Light"/>
            </a:endParaRPr>
          </a:p>
        </p:txBody>
      </p:sp>
      <p:pic>
        <p:nvPicPr>
          <p:cNvPr id="67" name="Google Shape;67;p15"/>
          <p:cNvPicPr preferRelativeResize="0"/>
          <p:nvPr/>
        </p:nvPicPr>
        <p:blipFill>
          <a:blip r:embed="rId3">
            <a:alphaModFix/>
          </a:blip>
          <a:stretch>
            <a:fillRect/>
          </a:stretch>
        </p:blipFill>
        <p:spPr>
          <a:xfrm>
            <a:off x="3538349" y="0"/>
            <a:ext cx="5594925" cy="5143501"/>
          </a:xfrm>
          <a:prstGeom prst="rect">
            <a:avLst/>
          </a:prstGeom>
          <a:noFill/>
          <a:ln>
            <a:noFill/>
          </a:ln>
        </p:spPr>
      </p:pic>
      <p:sp>
        <p:nvSpPr>
          <p:cNvPr id="68" name="Google Shape;68;p15"/>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2" name="Shape 72"/>
        <p:cNvGrpSpPr/>
        <p:nvPr/>
      </p:nvGrpSpPr>
      <p:grpSpPr>
        <a:xfrm>
          <a:off x="0" y="0"/>
          <a:ext cx="0" cy="0"/>
          <a:chOff x="0" y="0"/>
          <a:chExt cx="0" cy="0"/>
        </a:xfrm>
      </p:grpSpPr>
      <p:sp>
        <p:nvSpPr>
          <p:cNvPr id="73" name="Google Shape;73;p16"/>
          <p:cNvSpPr/>
          <p:nvPr/>
        </p:nvSpPr>
        <p:spPr>
          <a:xfrm>
            <a:off x="381675" y="878300"/>
            <a:ext cx="5570700" cy="18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 sz="2400" u="none" cap="none" strike="noStrike">
                <a:solidFill>
                  <a:srgbClr val="242729"/>
                </a:solidFill>
                <a:latin typeface="Roboto"/>
                <a:ea typeface="Roboto"/>
                <a:cs typeface="Roboto"/>
                <a:sym typeface="Roboto"/>
              </a:rPr>
              <a:t>Cohesion:</a:t>
            </a:r>
            <a:r>
              <a:rPr i="0" lang="en" sz="2400" u="none" cap="none" strike="noStrike">
                <a:solidFill>
                  <a:srgbClr val="242729"/>
                </a:solidFill>
                <a:latin typeface="Roboto Light"/>
                <a:ea typeface="Roboto Light"/>
                <a:cs typeface="Roboto Light"/>
                <a:sym typeface="Roboto Light"/>
              </a:rPr>
              <a:t> </a:t>
            </a:r>
            <a:r>
              <a:rPr i="0" lang="en" sz="1800" u="none" cap="none" strike="noStrike">
                <a:solidFill>
                  <a:srgbClr val="242729"/>
                </a:solidFill>
                <a:latin typeface="Roboto Light"/>
                <a:ea typeface="Roboto Light"/>
                <a:cs typeface="Roboto Light"/>
                <a:sym typeface="Roboto Light"/>
              </a:rPr>
              <a:t>Degree of togetherness between modules/classes/attributes.</a:t>
            </a:r>
            <a:endParaRPr>
              <a:latin typeface="Roboto Light"/>
              <a:ea typeface="Roboto Light"/>
              <a:cs typeface="Roboto Light"/>
              <a:sym typeface="Roboto Light"/>
            </a:endParaRPr>
          </a:p>
          <a:p>
            <a:pPr indent="0" lvl="0" marL="0" marR="0" rtl="0" algn="l">
              <a:spcBef>
                <a:spcPts val="0"/>
              </a:spcBef>
              <a:spcAft>
                <a:spcPts val="0"/>
              </a:spcAft>
              <a:buNone/>
            </a:pPr>
            <a:r>
              <a:t/>
            </a:r>
            <a:endParaRPr i="0" sz="1800" u="none" cap="none" strike="noStrike">
              <a:solidFill>
                <a:srgbClr val="242729"/>
              </a:solidFill>
              <a:latin typeface="Roboto Light"/>
              <a:ea typeface="Roboto Light"/>
              <a:cs typeface="Roboto Light"/>
              <a:sym typeface="Roboto Light"/>
            </a:endParaRPr>
          </a:p>
          <a:p>
            <a:pPr indent="-285750" lvl="0" marL="285750" marR="0" rtl="0" algn="l">
              <a:spcBef>
                <a:spcPts val="0"/>
              </a:spcBef>
              <a:spcAft>
                <a:spcPts val="0"/>
              </a:spcAft>
              <a:buClr>
                <a:srgbClr val="242729"/>
              </a:buClr>
              <a:buSzPts val="1800"/>
              <a:buFont typeface="Roboto Light"/>
              <a:buChar char="•"/>
            </a:pPr>
            <a:r>
              <a:rPr i="0" lang="en" sz="1800" u="none" cap="none" strike="noStrike">
                <a:solidFill>
                  <a:srgbClr val="242729"/>
                </a:solidFill>
                <a:latin typeface="Roboto Light"/>
                <a:ea typeface="Roboto Light"/>
                <a:cs typeface="Roboto Light"/>
                <a:sym typeface="Roboto Light"/>
              </a:rPr>
              <a:t>Related code should be close to each other</a:t>
            </a:r>
            <a:endParaRPr>
              <a:latin typeface="Roboto Light"/>
              <a:ea typeface="Roboto Light"/>
              <a:cs typeface="Roboto Light"/>
              <a:sym typeface="Roboto Light"/>
            </a:endParaRPr>
          </a:p>
          <a:p>
            <a:pPr indent="-285750" lvl="0" marL="285750" marR="0" rtl="0" algn="l">
              <a:spcBef>
                <a:spcPts val="0"/>
              </a:spcBef>
              <a:spcAft>
                <a:spcPts val="0"/>
              </a:spcAft>
              <a:buClr>
                <a:srgbClr val="242729"/>
              </a:buClr>
              <a:buSzPts val="1800"/>
              <a:buFont typeface="Roboto Light"/>
              <a:buChar char="•"/>
            </a:pPr>
            <a:r>
              <a:rPr i="0" lang="en" sz="1800" u="none" cap="none" strike="noStrike">
                <a:solidFill>
                  <a:srgbClr val="242729"/>
                </a:solidFill>
                <a:latin typeface="Roboto Light"/>
                <a:ea typeface="Roboto Light"/>
                <a:cs typeface="Roboto Light"/>
                <a:sym typeface="Roboto Light"/>
              </a:rPr>
              <a:t>Bind all related code together as close as possible.</a:t>
            </a:r>
            <a:endParaRPr>
              <a:latin typeface="Roboto Light"/>
              <a:ea typeface="Roboto Light"/>
              <a:cs typeface="Roboto Light"/>
              <a:sym typeface="Roboto Light"/>
            </a:endParaRPr>
          </a:p>
          <a:p>
            <a:pPr indent="0" lvl="0" marL="0" marR="0" rtl="0" algn="l">
              <a:spcBef>
                <a:spcPts val="0"/>
              </a:spcBef>
              <a:spcAft>
                <a:spcPts val="0"/>
              </a:spcAft>
              <a:buNone/>
            </a:pPr>
            <a:r>
              <a:t/>
            </a:r>
            <a:endParaRPr i="0" sz="1800" u="none" cap="none" strike="noStrike">
              <a:solidFill>
                <a:srgbClr val="242729"/>
              </a:solidFill>
              <a:latin typeface="Roboto Light"/>
              <a:ea typeface="Roboto Light"/>
              <a:cs typeface="Roboto Light"/>
              <a:sym typeface="Roboto Light"/>
            </a:endParaRPr>
          </a:p>
        </p:txBody>
      </p:sp>
      <p:sp>
        <p:nvSpPr>
          <p:cNvPr id="74" name="Google Shape;74;p16"/>
          <p:cNvSpPr/>
          <p:nvPr/>
        </p:nvSpPr>
        <p:spPr>
          <a:xfrm>
            <a:off x="381675" y="2780250"/>
            <a:ext cx="5570700" cy="164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 sz="2400" u="none" cap="none" strike="noStrike">
                <a:solidFill>
                  <a:srgbClr val="242729"/>
                </a:solidFill>
                <a:latin typeface="Roboto"/>
                <a:ea typeface="Roboto"/>
                <a:cs typeface="Roboto"/>
                <a:sym typeface="Roboto"/>
              </a:rPr>
              <a:t>Coupling:</a:t>
            </a:r>
            <a:r>
              <a:rPr i="0" lang="en" sz="2400" u="none" cap="none" strike="noStrike">
                <a:solidFill>
                  <a:srgbClr val="242729"/>
                </a:solidFill>
                <a:latin typeface="Roboto Light"/>
                <a:ea typeface="Roboto Light"/>
                <a:cs typeface="Roboto Light"/>
                <a:sym typeface="Roboto Light"/>
              </a:rPr>
              <a:t> </a:t>
            </a:r>
            <a:r>
              <a:rPr i="0" lang="en" sz="1800" u="none" cap="none" strike="noStrike">
                <a:solidFill>
                  <a:srgbClr val="242729"/>
                </a:solidFill>
                <a:latin typeface="Roboto Light"/>
                <a:ea typeface="Roboto Light"/>
                <a:cs typeface="Roboto Light"/>
                <a:sym typeface="Roboto Light"/>
              </a:rPr>
              <a:t>Degree of dependency between the different modules/classes. </a:t>
            </a:r>
            <a:endParaRPr sz="1800">
              <a:latin typeface="Roboto Light"/>
              <a:ea typeface="Roboto Light"/>
              <a:cs typeface="Roboto Light"/>
              <a:sym typeface="Roboto Light"/>
            </a:endParaRPr>
          </a:p>
          <a:p>
            <a:pPr indent="0" lvl="0" marL="0" marR="0" rtl="0" algn="l">
              <a:spcBef>
                <a:spcPts val="0"/>
              </a:spcBef>
              <a:spcAft>
                <a:spcPts val="0"/>
              </a:spcAft>
              <a:buNone/>
            </a:pPr>
            <a:r>
              <a:t/>
            </a:r>
            <a:endParaRPr i="0" sz="1800" u="none" cap="none" strike="noStrike">
              <a:solidFill>
                <a:srgbClr val="242729"/>
              </a:solidFill>
              <a:latin typeface="Roboto Light"/>
              <a:ea typeface="Roboto Light"/>
              <a:cs typeface="Roboto Light"/>
              <a:sym typeface="Roboto Light"/>
            </a:endParaRPr>
          </a:p>
          <a:p>
            <a:pPr indent="-285750" lvl="0" marL="285750" marR="0" rtl="0" algn="l">
              <a:spcBef>
                <a:spcPts val="0"/>
              </a:spcBef>
              <a:spcAft>
                <a:spcPts val="0"/>
              </a:spcAft>
              <a:buClr>
                <a:srgbClr val="242729"/>
              </a:buClr>
              <a:buSzPts val="1800"/>
              <a:buFont typeface="Roboto Light"/>
              <a:buChar char="•"/>
            </a:pPr>
            <a:r>
              <a:rPr i="0" lang="en" sz="1800" u="none" cap="none" strike="noStrike">
                <a:solidFill>
                  <a:srgbClr val="242729"/>
                </a:solidFill>
                <a:latin typeface="Roboto Light"/>
                <a:ea typeface="Roboto Light"/>
                <a:cs typeface="Roboto Light"/>
                <a:sym typeface="Roboto Light"/>
              </a:rPr>
              <a:t>Modules/Classes should be independent as far as possible. </a:t>
            </a:r>
            <a:endParaRPr sz="1800">
              <a:latin typeface="Roboto Light"/>
              <a:ea typeface="Roboto Light"/>
              <a:cs typeface="Roboto Light"/>
              <a:sym typeface="Roboto Light"/>
            </a:endParaRPr>
          </a:p>
        </p:txBody>
      </p:sp>
      <p:pic>
        <p:nvPicPr>
          <p:cNvPr id="75" name="Google Shape;75;p16"/>
          <p:cNvPicPr preferRelativeResize="0"/>
          <p:nvPr/>
        </p:nvPicPr>
        <p:blipFill rotWithShape="1">
          <a:blip r:embed="rId3">
            <a:alphaModFix/>
          </a:blip>
          <a:srcRect b="0" l="0" r="0" t="0"/>
          <a:stretch/>
        </p:blipFill>
        <p:spPr>
          <a:xfrm>
            <a:off x="6257925" y="2678900"/>
            <a:ext cx="2436725" cy="1847600"/>
          </a:xfrm>
          <a:prstGeom prst="rect">
            <a:avLst/>
          </a:prstGeom>
          <a:noFill/>
          <a:ln>
            <a:noFill/>
          </a:ln>
        </p:spPr>
      </p:pic>
      <p:pic>
        <p:nvPicPr>
          <p:cNvPr id="76" name="Google Shape;76;p16"/>
          <p:cNvPicPr preferRelativeResize="0"/>
          <p:nvPr/>
        </p:nvPicPr>
        <p:blipFill rotWithShape="1">
          <a:blip r:embed="rId4">
            <a:alphaModFix/>
          </a:blip>
          <a:srcRect b="0" l="5767" r="0" t="0"/>
          <a:stretch/>
        </p:blipFill>
        <p:spPr>
          <a:xfrm>
            <a:off x="6244188" y="760772"/>
            <a:ext cx="2436749" cy="1918134"/>
          </a:xfrm>
          <a:prstGeom prst="rect">
            <a:avLst/>
          </a:prstGeom>
          <a:noFill/>
          <a:ln>
            <a:noFill/>
          </a:ln>
        </p:spPr>
      </p:pic>
      <p:sp>
        <p:nvSpPr>
          <p:cNvPr id="77" name="Google Shape;77;p16"/>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i="0" lang="en" sz="3500" u="none" cap="none" strike="noStrike">
                <a:solidFill>
                  <a:schemeClr val="lt1"/>
                </a:solidFill>
                <a:latin typeface="Roboto Light"/>
                <a:ea typeface="Roboto Light"/>
                <a:cs typeface="Roboto Light"/>
                <a:sym typeface="Roboto Light"/>
              </a:rPr>
              <a:t>Abstract Design Guideline</a:t>
            </a:r>
            <a:endParaRPr sz="3500">
              <a:latin typeface="Roboto Light"/>
              <a:ea typeface="Roboto Light"/>
              <a:cs typeface="Roboto Light"/>
              <a:sym typeface="Roboto Light"/>
            </a:endParaRPr>
          </a:p>
        </p:txBody>
      </p:sp>
      <p:sp>
        <p:nvSpPr>
          <p:cNvPr id="78" name="Google Shape;78;p16"/>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5">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idx="1" type="body"/>
          </p:nvPr>
        </p:nvSpPr>
        <p:spPr>
          <a:xfrm>
            <a:off x="864475" y="1083225"/>
            <a:ext cx="5536200" cy="3394500"/>
          </a:xfrm>
          <a:prstGeom prst="rect">
            <a:avLst/>
          </a:prstGeom>
          <a:noFill/>
          <a:ln>
            <a:noFill/>
          </a:ln>
        </p:spPr>
        <p:txBody>
          <a:bodyPr anchorCtr="0" anchor="t" bIns="45700" lIns="91425" spcFirstLastPara="1" rIns="91425" wrap="square" tIns="45700">
            <a:normAutofit fontScale="92500" lnSpcReduction="10000"/>
          </a:bodyPr>
          <a:lstStyle/>
          <a:p>
            <a:pPr indent="-333375" lvl="0" marL="342900" rtl="0" algn="l">
              <a:spcBef>
                <a:spcPts val="0"/>
              </a:spcBef>
              <a:spcAft>
                <a:spcPts val="0"/>
              </a:spcAft>
              <a:buClr>
                <a:srgbClr val="C00000"/>
              </a:buClr>
              <a:buSzPct val="100000"/>
              <a:buFont typeface="Roboto Light"/>
              <a:buChar char="⮚"/>
            </a:pPr>
            <a:r>
              <a:rPr lang="en" sz="2000">
                <a:solidFill>
                  <a:srgbClr val="C00000"/>
                </a:solidFill>
                <a:latin typeface="Roboto Light"/>
                <a:ea typeface="Roboto Light"/>
                <a:cs typeface="Roboto Light"/>
                <a:sym typeface="Roboto Light"/>
              </a:rPr>
              <a:t>Rule of Clarity:</a:t>
            </a:r>
            <a:r>
              <a:rPr lang="en" sz="2000">
                <a:latin typeface="Roboto Light"/>
                <a:ea typeface="Roboto Light"/>
                <a:cs typeface="Roboto Light"/>
                <a:sym typeface="Roboto Light"/>
              </a:rPr>
              <a:t> Clarity is better than cleverness.</a:t>
            </a:r>
            <a:endParaRPr>
              <a:latin typeface="Roboto Light"/>
              <a:ea typeface="Roboto Light"/>
              <a:cs typeface="Roboto Light"/>
              <a:sym typeface="Roboto Light"/>
            </a:endParaRPr>
          </a:p>
          <a:p>
            <a:pPr indent="0" lvl="0" marL="0" rtl="0" algn="l">
              <a:spcBef>
                <a:spcPts val="400"/>
              </a:spcBef>
              <a:spcAft>
                <a:spcPts val="0"/>
              </a:spcAft>
              <a:buClr>
                <a:schemeClr val="dk1"/>
              </a:buClr>
              <a:buSzPct val="100000"/>
              <a:buNone/>
            </a:pPr>
            <a:r>
              <a:t/>
            </a:r>
            <a:endParaRPr sz="2000">
              <a:latin typeface="Roboto Light"/>
              <a:ea typeface="Roboto Light"/>
              <a:cs typeface="Roboto Light"/>
              <a:sym typeface="Roboto Light"/>
            </a:endParaRPr>
          </a:p>
          <a:p>
            <a:pPr indent="-333375" lvl="0" marL="342900" rtl="0" algn="l">
              <a:spcBef>
                <a:spcPts val="400"/>
              </a:spcBef>
              <a:spcAft>
                <a:spcPts val="0"/>
              </a:spcAft>
              <a:buClr>
                <a:srgbClr val="C00000"/>
              </a:buClr>
              <a:buSzPct val="100000"/>
              <a:buFont typeface="Roboto Light"/>
              <a:buChar char="⮚"/>
            </a:pPr>
            <a:r>
              <a:rPr lang="en" sz="2000">
                <a:solidFill>
                  <a:srgbClr val="C00000"/>
                </a:solidFill>
                <a:latin typeface="Roboto Light"/>
                <a:ea typeface="Roboto Light"/>
                <a:cs typeface="Roboto Light"/>
                <a:sym typeface="Roboto Light"/>
              </a:rPr>
              <a:t>Rule of Composition:</a:t>
            </a:r>
            <a:r>
              <a:rPr lang="en" sz="2000">
                <a:latin typeface="Roboto Light"/>
                <a:ea typeface="Roboto Light"/>
                <a:cs typeface="Roboto Light"/>
                <a:sym typeface="Roboto Light"/>
              </a:rPr>
              <a:t> Design programs to be connected to other programs.</a:t>
            </a:r>
            <a:endParaRPr>
              <a:latin typeface="Roboto Light"/>
              <a:ea typeface="Roboto Light"/>
              <a:cs typeface="Roboto Light"/>
              <a:sym typeface="Roboto Light"/>
            </a:endParaRPr>
          </a:p>
          <a:p>
            <a:pPr indent="0" lvl="0" marL="0" rtl="0" algn="l">
              <a:spcBef>
                <a:spcPts val="400"/>
              </a:spcBef>
              <a:spcAft>
                <a:spcPts val="0"/>
              </a:spcAft>
              <a:buClr>
                <a:schemeClr val="dk1"/>
              </a:buClr>
              <a:buSzPct val="100000"/>
              <a:buNone/>
            </a:pPr>
            <a:r>
              <a:t/>
            </a:r>
            <a:endParaRPr sz="2000">
              <a:latin typeface="Roboto Light"/>
              <a:ea typeface="Roboto Light"/>
              <a:cs typeface="Roboto Light"/>
              <a:sym typeface="Roboto Light"/>
            </a:endParaRPr>
          </a:p>
          <a:p>
            <a:pPr indent="-333375" lvl="0" marL="342900" rtl="0" algn="l">
              <a:spcBef>
                <a:spcPts val="400"/>
              </a:spcBef>
              <a:spcAft>
                <a:spcPts val="0"/>
              </a:spcAft>
              <a:buClr>
                <a:srgbClr val="C00000"/>
              </a:buClr>
              <a:buSzPct val="100000"/>
              <a:buFont typeface="Roboto Light"/>
              <a:buChar char="⮚"/>
            </a:pPr>
            <a:r>
              <a:rPr lang="en" sz="2000">
                <a:solidFill>
                  <a:srgbClr val="C00000"/>
                </a:solidFill>
                <a:latin typeface="Roboto Light"/>
                <a:ea typeface="Roboto Light"/>
                <a:cs typeface="Roboto Light"/>
                <a:sym typeface="Roboto Light"/>
              </a:rPr>
              <a:t>Rule of Separation:</a:t>
            </a:r>
            <a:r>
              <a:rPr lang="en" sz="2000">
                <a:latin typeface="Roboto Light"/>
                <a:ea typeface="Roboto Light"/>
                <a:cs typeface="Roboto Light"/>
                <a:sym typeface="Roboto Light"/>
              </a:rPr>
              <a:t> Separate policy from mechanism; separate interfaces from engines</a:t>
            </a:r>
            <a:endParaRPr>
              <a:latin typeface="Roboto Light"/>
              <a:ea typeface="Roboto Light"/>
              <a:cs typeface="Roboto Light"/>
              <a:sym typeface="Roboto Light"/>
            </a:endParaRPr>
          </a:p>
          <a:p>
            <a:pPr indent="0" lvl="0" marL="0" rtl="0" algn="l">
              <a:spcBef>
                <a:spcPts val="400"/>
              </a:spcBef>
              <a:spcAft>
                <a:spcPts val="0"/>
              </a:spcAft>
              <a:buClr>
                <a:schemeClr val="dk1"/>
              </a:buClr>
              <a:buSzPct val="100000"/>
              <a:buNone/>
            </a:pPr>
            <a:r>
              <a:t/>
            </a:r>
            <a:endParaRPr sz="2000">
              <a:latin typeface="Roboto Light"/>
              <a:ea typeface="Roboto Light"/>
              <a:cs typeface="Roboto Light"/>
              <a:sym typeface="Roboto Light"/>
            </a:endParaRPr>
          </a:p>
          <a:p>
            <a:pPr indent="-333375" lvl="0" marL="342900" rtl="0" algn="l">
              <a:spcBef>
                <a:spcPts val="400"/>
              </a:spcBef>
              <a:spcAft>
                <a:spcPts val="1200"/>
              </a:spcAft>
              <a:buClr>
                <a:srgbClr val="C00000"/>
              </a:buClr>
              <a:buSzPct val="100000"/>
              <a:buFont typeface="Roboto Light"/>
              <a:buChar char="⮚"/>
            </a:pPr>
            <a:r>
              <a:rPr lang="en" sz="2000">
                <a:solidFill>
                  <a:srgbClr val="C00000"/>
                </a:solidFill>
                <a:latin typeface="Roboto Light"/>
                <a:ea typeface="Roboto Light"/>
                <a:cs typeface="Roboto Light"/>
                <a:sym typeface="Roboto Light"/>
              </a:rPr>
              <a:t>Rule of Simplicity:</a:t>
            </a:r>
            <a:r>
              <a:rPr lang="en" sz="2000">
                <a:latin typeface="Roboto Light"/>
                <a:ea typeface="Roboto Light"/>
                <a:cs typeface="Roboto Light"/>
                <a:sym typeface="Roboto Light"/>
              </a:rPr>
              <a:t> Design for simplicity; add complexity only where you must</a:t>
            </a:r>
            <a:endParaRPr>
              <a:latin typeface="Roboto Light"/>
              <a:ea typeface="Roboto Light"/>
              <a:cs typeface="Roboto Light"/>
              <a:sym typeface="Roboto Light"/>
            </a:endParaRPr>
          </a:p>
        </p:txBody>
      </p:sp>
      <p:pic>
        <p:nvPicPr>
          <p:cNvPr id="84" name="Google Shape;84;p17"/>
          <p:cNvPicPr preferRelativeResize="0"/>
          <p:nvPr/>
        </p:nvPicPr>
        <p:blipFill rotWithShape="1">
          <a:blip r:embed="rId3">
            <a:alphaModFix/>
          </a:blip>
          <a:srcRect b="0" l="0" r="0" t="0"/>
          <a:stretch/>
        </p:blipFill>
        <p:spPr>
          <a:xfrm>
            <a:off x="7086600" y="1179368"/>
            <a:ext cx="1385887" cy="3014663"/>
          </a:xfrm>
          <a:prstGeom prst="rect">
            <a:avLst/>
          </a:prstGeom>
          <a:noFill/>
          <a:ln>
            <a:noFill/>
          </a:ln>
        </p:spPr>
      </p:pic>
      <p:sp>
        <p:nvSpPr>
          <p:cNvPr id="85" name="Google Shape;85;p17"/>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i="0" lang="en" sz="3500" u="none" cap="none" strike="noStrike">
                <a:solidFill>
                  <a:schemeClr val="lt1"/>
                </a:solidFill>
                <a:latin typeface="Roboto Light"/>
                <a:ea typeface="Roboto Light"/>
                <a:cs typeface="Roboto Light"/>
                <a:sym typeface="Roboto Light"/>
              </a:rPr>
              <a:t>Art of Unix Programming</a:t>
            </a:r>
            <a:endParaRPr sz="3500">
              <a:latin typeface="Roboto Light"/>
              <a:ea typeface="Roboto Light"/>
              <a:cs typeface="Roboto Light"/>
              <a:sym typeface="Roboto Light"/>
            </a:endParaRPr>
          </a:p>
        </p:txBody>
      </p:sp>
      <p:sp>
        <p:nvSpPr>
          <p:cNvPr id="86" name="Google Shape;86;p17"/>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idx="1" type="body"/>
          </p:nvPr>
        </p:nvSpPr>
        <p:spPr>
          <a:xfrm>
            <a:off x="990600" y="1143000"/>
            <a:ext cx="5486400" cy="3394500"/>
          </a:xfrm>
          <a:prstGeom prst="rect">
            <a:avLst/>
          </a:prstGeom>
          <a:noFill/>
          <a:ln>
            <a:noFill/>
          </a:ln>
        </p:spPr>
        <p:txBody>
          <a:bodyPr anchorCtr="0" anchor="t" bIns="45700" lIns="91425" spcFirstLastPara="1" rIns="91425" wrap="square" tIns="45700">
            <a:normAutofit fontScale="62500" lnSpcReduction="20000"/>
          </a:bodyPr>
          <a:lstStyle/>
          <a:p>
            <a:pPr indent="-295307" lvl="0" marL="342900" rtl="0" algn="l">
              <a:spcBef>
                <a:spcPts val="0"/>
              </a:spcBef>
              <a:spcAft>
                <a:spcPts val="0"/>
              </a:spcAft>
              <a:buClr>
                <a:srgbClr val="C00000"/>
              </a:buClr>
              <a:buSzPct val="100000"/>
              <a:buFont typeface="Roboto Light"/>
              <a:buChar char="⮚"/>
            </a:pPr>
            <a:r>
              <a:rPr lang="en" sz="2500">
                <a:solidFill>
                  <a:srgbClr val="C00000"/>
                </a:solidFill>
                <a:latin typeface="Roboto Light"/>
                <a:ea typeface="Roboto Light"/>
                <a:cs typeface="Roboto Light"/>
                <a:sym typeface="Roboto Light"/>
              </a:rPr>
              <a:t>Rule of Transparency:</a:t>
            </a:r>
            <a:r>
              <a:rPr lang="en" sz="2500">
                <a:latin typeface="Roboto Light"/>
                <a:ea typeface="Roboto Light"/>
                <a:cs typeface="Roboto Light"/>
                <a:sym typeface="Roboto Light"/>
              </a:rPr>
              <a:t> Design for visibility to make inspection and debugging easier</a:t>
            </a:r>
            <a:endParaRPr>
              <a:latin typeface="Roboto Light"/>
              <a:ea typeface="Roboto Light"/>
              <a:cs typeface="Roboto Light"/>
              <a:sym typeface="Roboto Light"/>
            </a:endParaRPr>
          </a:p>
          <a:p>
            <a:pPr indent="0" lvl="0" marL="0" rtl="0" algn="l">
              <a:spcBef>
                <a:spcPts val="462"/>
              </a:spcBef>
              <a:spcAft>
                <a:spcPts val="0"/>
              </a:spcAft>
              <a:buClr>
                <a:schemeClr val="dk1"/>
              </a:buClr>
              <a:buSzPct val="100000"/>
              <a:buNone/>
            </a:pPr>
            <a:r>
              <a:t/>
            </a:r>
            <a:endParaRPr sz="2500">
              <a:latin typeface="Roboto Light"/>
              <a:ea typeface="Roboto Light"/>
              <a:cs typeface="Roboto Light"/>
              <a:sym typeface="Roboto Light"/>
            </a:endParaRPr>
          </a:p>
          <a:p>
            <a:pPr indent="-295307" lvl="0" marL="342900" rtl="0" algn="l">
              <a:spcBef>
                <a:spcPts val="462"/>
              </a:spcBef>
              <a:spcAft>
                <a:spcPts val="0"/>
              </a:spcAft>
              <a:buClr>
                <a:srgbClr val="C00000"/>
              </a:buClr>
              <a:buSzPct val="100000"/>
              <a:buFont typeface="Roboto Light"/>
              <a:buChar char="⮚"/>
            </a:pPr>
            <a:r>
              <a:rPr lang="en" sz="2500">
                <a:solidFill>
                  <a:srgbClr val="C00000"/>
                </a:solidFill>
                <a:latin typeface="Roboto Light"/>
                <a:ea typeface="Roboto Light"/>
                <a:cs typeface="Roboto Light"/>
                <a:sym typeface="Roboto Light"/>
              </a:rPr>
              <a:t>Rule of Robustness:</a:t>
            </a:r>
            <a:r>
              <a:rPr lang="en" sz="2500">
                <a:latin typeface="Roboto Light"/>
                <a:ea typeface="Roboto Light"/>
                <a:cs typeface="Roboto Light"/>
                <a:sym typeface="Roboto Light"/>
              </a:rPr>
              <a:t> Robustness is the child of transparency and simplicity</a:t>
            </a:r>
            <a:endParaRPr>
              <a:latin typeface="Roboto Light"/>
              <a:ea typeface="Roboto Light"/>
              <a:cs typeface="Roboto Light"/>
              <a:sym typeface="Roboto Light"/>
            </a:endParaRPr>
          </a:p>
          <a:p>
            <a:pPr indent="0" lvl="0" marL="0" rtl="0" algn="l">
              <a:spcBef>
                <a:spcPts val="462"/>
              </a:spcBef>
              <a:spcAft>
                <a:spcPts val="0"/>
              </a:spcAft>
              <a:buClr>
                <a:schemeClr val="dk1"/>
              </a:buClr>
              <a:buSzPct val="100000"/>
              <a:buNone/>
            </a:pPr>
            <a:r>
              <a:t/>
            </a:r>
            <a:endParaRPr sz="2500">
              <a:latin typeface="Roboto Light"/>
              <a:ea typeface="Roboto Light"/>
              <a:cs typeface="Roboto Light"/>
              <a:sym typeface="Roboto Light"/>
            </a:endParaRPr>
          </a:p>
          <a:p>
            <a:pPr indent="-295307" lvl="0" marL="342900" rtl="0" algn="l">
              <a:spcBef>
                <a:spcPts val="462"/>
              </a:spcBef>
              <a:spcAft>
                <a:spcPts val="0"/>
              </a:spcAft>
              <a:buClr>
                <a:srgbClr val="C00000"/>
              </a:buClr>
              <a:buSzPct val="100000"/>
              <a:buFont typeface="Roboto Light"/>
              <a:buChar char="⮚"/>
            </a:pPr>
            <a:r>
              <a:rPr lang="en" sz="2500">
                <a:solidFill>
                  <a:srgbClr val="C00000"/>
                </a:solidFill>
                <a:latin typeface="Roboto Light"/>
                <a:ea typeface="Roboto Light"/>
                <a:cs typeface="Roboto Light"/>
                <a:sym typeface="Roboto Light"/>
              </a:rPr>
              <a:t>Rule of Least Surprise:</a:t>
            </a:r>
            <a:r>
              <a:rPr lang="en" sz="2500">
                <a:latin typeface="Roboto Light"/>
                <a:ea typeface="Roboto Light"/>
                <a:cs typeface="Roboto Light"/>
                <a:sym typeface="Roboto Light"/>
              </a:rPr>
              <a:t> In interface design, always do the least surprising thing</a:t>
            </a:r>
            <a:endParaRPr>
              <a:latin typeface="Roboto Light"/>
              <a:ea typeface="Roboto Light"/>
              <a:cs typeface="Roboto Light"/>
              <a:sym typeface="Roboto Light"/>
            </a:endParaRPr>
          </a:p>
          <a:p>
            <a:pPr indent="0" lvl="0" marL="0" rtl="0" algn="l">
              <a:spcBef>
                <a:spcPts val="462"/>
              </a:spcBef>
              <a:spcAft>
                <a:spcPts val="0"/>
              </a:spcAft>
              <a:buClr>
                <a:schemeClr val="dk1"/>
              </a:buClr>
              <a:buSzPct val="100000"/>
              <a:buNone/>
            </a:pPr>
            <a:r>
              <a:t/>
            </a:r>
            <a:endParaRPr sz="2500">
              <a:latin typeface="Roboto Light"/>
              <a:ea typeface="Roboto Light"/>
              <a:cs typeface="Roboto Light"/>
              <a:sym typeface="Roboto Light"/>
            </a:endParaRPr>
          </a:p>
          <a:p>
            <a:pPr indent="-295307" lvl="0" marL="342900" rtl="0" algn="l">
              <a:spcBef>
                <a:spcPts val="462"/>
              </a:spcBef>
              <a:spcAft>
                <a:spcPts val="0"/>
              </a:spcAft>
              <a:buClr>
                <a:srgbClr val="C00000"/>
              </a:buClr>
              <a:buSzPct val="100000"/>
              <a:buFont typeface="Roboto Light"/>
              <a:buChar char="⮚"/>
            </a:pPr>
            <a:r>
              <a:rPr lang="en" sz="2500">
                <a:solidFill>
                  <a:srgbClr val="C00000"/>
                </a:solidFill>
                <a:latin typeface="Roboto Light"/>
                <a:ea typeface="Roboto Light"/>
                <a:cs typeface="Roboto Light"/>
                <a:sym typeface="Roboto Light"/>
              </a:rPr>
              <a:t>Rule of Silence:</a:t>
            </a:r>
            <a:r>
              <a:rPr lang="en" sz="2500">
                <a:latin typeface="Roboto Light"/>
                <a:ea typeface="Roboto Light"/>
                <a:cs typeface="Roboto Light"/>
                <a:sym typeface="Roboto Light"/>
              </a:rPr>
              <a:t> When a program has nothing surprising to say, it should say nothing</a:t>
            </a:r>
            <a:endParaRPr>
              <a:latin typeface="Roboto Light"/>
              <a:ea typeface="Roboto Light"/>
              <a:cs typeface="Roboto Light"/>
              <a:sym typeface="Roboto Light"/>
            </a:endParaRPr>
          </a:p>
          <a:p>
            <a:pPr indent="-154940" lvl="0" marL="342900" rtl="0" algn="l">
              <a:spcBef>
                <a:spcPts val="592"/>
              </a:spcBef>
              <a:spcAft>
                <a:spcPts val="1200"/>
              </a:spcAft>
              <a:buClr>
                <a:schemeClr val="dk1"/>
              </a:buClr>
              <a:buSzPct val="177778"/>
              <a:buNone/>
            </a:pPr>
            <a:r>
              <a:t/>
            </a:r>
            <a:endParaRPr>
              <a:latin typeface="Roboto Light"/>
              <a:ea typeface="Roboto Light"/>
              <a:cs typeface="Roboto Light"/>
              <a:sym typeface="Roboto Light"/>
            </a:endParaRPr>
          </a:p>
        </p:txBody>
      </p:sp>
      <p:pic>
        <p:nvPicPr>
          <p:cNvPr id="92" name="Google Shape;92;p18"/>
          <p:cNvPicPr preferRelativeResize="0"/>
          <p:nvPr/>
        </p:nvPicPr>
        <p:blipFill rotWithShape="1">
          <a:blip r:embed="rId3">
            <a:alphaModFix/>
          </a:blip>
          <a:srcRect b="0" l="0" r="0" t="0"/>
          <a:stretch/>
        </p:blipFill>
        <p:spPr>
          <a:xfrm>
            <a:off x="7019951" y="1149875"/>
            <a:ext cx="1435525" cy="3106900"/>
          </a:xfrm>
          <a:prstGeom prst="rect">
            <a:avLst/>
          </a:prstGeom>
          <a:noFill/>
          <a:ln>
            <a:noFill/>
          </a:ln>
        </p:spPr>
      </p:pic>
      <p:sp>
        <p:nvSpPr>
          <p:cNvPr id="93" name="Google Shape;93;p18"/>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i="0" lang="en" sz="3500" u="none" cap="none" strike="noStrike">
                <a:solidFill>
                  <a:schemeClr val="lt1"/>
                </a:solidFill>
                <a:latin typeface="Roboto Light"/>
                <a:ea typeface="Roboto Light"/>
                <a:cs typeface="Roboto Light"/>
                <a:sym typeface="Roboto Light"/>
              </a:rPr>
              <a:t>Art of Unix Programming  (Cont’d)</a:t>
            </a:r>
            <a:endParaRPr sz="3500">
              <a:latin typeface="Roboto Light"/>
              <a:ea typeface="Roboto Light"/>
              <a:cs typeface="Roboto Light"/>
              <a:sym typeface="Roboto Light"/>
            </a:endParaRPr>
          </a:p>
        </p:txBody>
      </p:sp>
      <p:sp>
        <p:nvSpPr>
          <p:cNvPr id="94" name="Google Shape;94;p18"/>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idx="1" type="body"/>
          </p:nvPr>
        </p:nvSpPr>
        <p:spPr>
          <a:xfrm>
            <a:off x="567025" y="1063200"/>
            <a:ext cx="6019800" cy="3394500"/>
          </a:xfrm>
          <a:prstGeom prst="rect">
            <a:avLst/>
          </a:prstGeom>
          <a:noFill/>
          <a:ln>
            <a:noFill/>
          </a:ln>
        </p:spPr>
        <p:txBody>
          <a:bodyPr anchorCtr="0" anchor="t" bIns="45700" lIns="91425" spcFirstLastPara="1" rIns="91425" wrap="square" tIns="45700">
            <a:normAutofit/>
          </a:bodyPr>
          <a:lstStyle/>
          <a:p>
            <a:pPr indent="-300863" lvl="0" marL="342900" rtl="0" algn="l">
              <a:lnSpc>
                <a:spcPct val="95000"/>
              </a:lnSpc>
              <a:spcBef>
                <a:spcPts val="0"/>
              </a:spcBef>
              <a:spcAft>
                <a:spcPts val="0"/>
              </a:spcAft>
              <a:buClr>
                <a:srgbClr val="C00000"/>
              </a:buClr>
              <a:buSzPts val="1650"/>
              <a:buFont typeface="Roboto Light"/>
              <a:buChar char="⮚"/>
            </a:pPr>
            <a:r>
              <a:rPr lang="en" sz="1650">
                <a:solidFill>
                  <a:srgbClr val="C00000"/>
                </a:solidFill>
                <a:latin typeface="Roboto Light"/>
                <a:ea typeface="Roboto Light"/>
                <a:cs typeface="Roboto Light"/>
                <a:sym typeface="Roboto Light"/>
              </a:rPr>
              <a:t>Rule of Repair:</a:t>
            </a:r>
            <a:r>
              <a:rPr lang="en" sz="1650">
                <a:latin typeface="Roboto Light"/>
                <a:ea typeface="Roboto Light"/>
                <a:cs typeface="Roboto Light"/>
                <a:sym typeface="Roboto Light"/>
              </a:rPr>
              <a:t> When you must fail, fail noisily and as soon as possible</a:t>
            </a:r>
            <a:endParaRPr sz="1160">
              <a:latin typeface="Roboto Light"/>
              <a:ea typeface="Roboto Light"/>
              <a:cs typeface="Roboto Light"/>
              <a:sym typeface="Roboto Light"/>
            </a:endParaRPr>
          </a:p>
          <a:p>
            <a:pPr indent="0" lvl="0" marL="0" rtl="0" algn="l">
              <a:lnSpc>
                <a:spcPct val="95000"/>
              </a:lnSpc>
              <a:spcBef>
                <a:spcPts val="462"/>
              </a:spcBef>
              <a:spcAft>
                <a:spcPts val="0"/>
              </a:spcAft>
              <a:buClr>
                <a:schemeClr val="dk1"/>
              </a:buClr>
              <a:buSzPts val="1750"/>
              <a:buNone/>
            </a:pPr>
            <a:r>
              <a:t/>
            </a:r>
            <a:endParaRPr sz="1650">
              <a:latin typeface="Roboto Light"/>
              <a:ea typeface="Roboto Light"/>
              <a:cs typeface="Roboto Light"/>
              <a:sym typeface="Roboto Light"/>
            </a:endParaRPr>
          </a:p>
          <a:p>
            <a:pPr indent="-300863" lvl="0" marL="342900" rtl="0" algn="l">
              <a:lnSpc>
                <a:spcPct val="95000"/>
              </a:lnSpc>
              <a:spcBef>
                <a:spcPts val="462"/>
              </a:spcBef>
              <a:spcAft>
                <a:spcPts val="0"/>
              </a:spcAft>
              <a:buClr>
                <a:srgbClr val="C00000"/>
              </a:buClr>
              <a:buSzPts val="1650"/>
              <a:buFont typeface="Roboto Light"/>
              <a:buChar char="⮚"/>
            </a:pPr>
            <a:r>
              <a:rPr lang="en" sz="1650">
                <a:solidFill>
                  <a:srgbClr val="C00000"/>
                </a:solidFill>
                <a:latin typeface="Roboto Light"/>
                <a:ea typeface="Roboto Light"/>
                <a:cs typeface="Roboto Light"/>
                <a:sym typeface="Roboto Light"/>
              </a:rPr>
              <a:t>Rule of Economy:</a:t>
            </a:r>
            <a:r>
              <a:rPr lang="en" sz="1650">
                <a:latin typeface="Roboto Light"/>
                <a:ea typeface="Roboto Light"/>
                <a:cs typeface="Roboto Light"/>
                <a:sym typeface="Roboto Light"/>
              </a:rPr>
              <a:t> Programmer time is expensive; conserve it in preference to machine time</a:t>
            </a:r>
            <a:endParaRPr sz="1160">
              <a:latin typeface="Roboto Light"/>
              <a:ea typeface="Roboto Light"/>
              <a:cs typeface="Roboto Light"/>
              <a:sym typeface="Roboto Light"/>
            </a:endParaRPr>
          </a:p>
          <a:p>
            <a:pPr indent="0" lvl="0" marL="0" rtl="0" algn="l">
              <a:lnSpc>
                <a:spcPct val="95000"/>
              </a:lnSpc>
              <a:spcBef>
                <a:spcPts val="462"/>
              </a:spcBef>
              <a:spcAft>
                <a:spcPts val="0"/>
              </a:spcAft>
              <a:buClr>
                <a:schemeClr val="dk1"/>
              </a:buClr>
              <a:buSzPts val="1750"/>
              <a:buNone/>
            </a:pPr>
            <a:r>
              <a:t/>
            </a:r>
            <a:endParaRPr sz="1650">
              <a:latin typeface="Roboto Light"/>
              <a:ea typeface="Roboto Light"/>
              <a:cs typeface="Roboto Light"/>
              <a:sym typeface="Roboto Light"/>
            </a:endParaRPr>
          </a:p>
          <a:p>
            <a:pPr indent="-300863" lvl="0" marL="342900" rtl="0" algn="l">
              <a:lnSpc>
                <a:spcPct val="95000"/>
              </a:lnSpc>
              <a:spcBef>
                <a:spcPts val="462"/>
              </a:spcBef>
              <a:spcAft>
                <a:spcPts val="0"/>
              </a:spcAft>
              <a:buClr>
                <a:srgbClr val="C00000"/>
              </a:buClr>
              <a:buSzPts val="1650"/>
              <a:buFont typeface="Roboto Light"/>
              <a:buChar char="⮚"/>
            </a:pPr>
            <a:r>
              <a:rPr lang="en" sz="1650">
                <a:solidFill>
                  <a:srgbClr val="C00000"/>
                </a:solidFill>
                <a:latin typeface="Roboto Light"/>
                <a:ea typeface="Roboto Light"/>
                <a:cs typeface="Roboto Light"/>
                <a:sym typeface="Roboto Light"/>
              </a:rPr>
              <a:t>Rule of Optimization:</a:t>
            </a:r>
            <a:r>
              <a:rPr lang="en" sz="1650">
                <a:latin typeface="Roboto Light"/>
                <a:ea typeface="Roboto Light"/>
                <a:cs typeface="Roboto Light"/>
                <a:sym typeface="Roboto Light"/>
              </a:rPr>
              <a:t> Prototype before polishing. Get it working before you optimize it.</a:t>
            </a:r>
            <a:endParaRPr sz="1160">
              <a:latin typeface="Roboto Light"/>
              <a:ea typeface="Roboto Light"/>
              <a:cs typeface="Roboto Light"/>
              <a:sym typeface="Roboto Light"/>
            </a:endParaRPr>
          </a:p>
          <a:p>
            <a:pPr indent="0" lvl="0" marL="0" rtl="0" algn="l">
              <a:lnSpc>
                <a:spcPct val="95000"/>
              </a:lnSpc>
              <a:spcBef>
                <a:spcPts val="462"/>
              </a:spcBef>
              <a:spcAft>
                <a:spcPts val="0"/>
              </a:spcAft>
              <a:buClr>
                <a:schemeClr val="dk1"/>
              </a:buClr>
              <a:buSzPts val="1750"/>
              <a:buNone/>
            </a:pPr>
            <a:r>
              <a:t/>
            </a:r>
            <a:endParaRPr sz="1650">
              <a:latin typeface="Roboto Light"/>
              <a:ea typeface="Roboto Light"/>
              <a:cs typeface="Roboto Light"/>
              <a:sym typeface="Roboto Light"/>
            </a:endParaRPr>
          </a:p>
          <a:p>
            <a:pPr indent="-300863" lvl="0" marL="342900" rtl="0" algn="l">
              <a:lnSpc>
                <a:spcPct val="95000"/>
              </a:lnSpc>
              <a:spcBef>
                <a:spcPts val="462"/>
              </a:spcBef>
              <a:spcAft>
                <a:spcPts val="1200"/>
              </a:spcAft>
              <a:buClr>
                <a:srgbClr val="C00000"/>
              </a:buClr>
              <a:buSzPts val="1650"/>
              <a:buFont typeface="Roboto Light"/>
              <a:buChar char="⮚"/>
            </a:pPr>
            <a:r>
              <a:rPr lang="en" sz="1650">
                <a:solidFill>
                  <a:srgbClr val="C00000"/>
                </a:solidFill>
                <a:latin typeface="Roboto Light"/>
                <a:ea typeface="Roboto Light"/>
                <a:cs typeface="Roboto Light"/>
                <a:sym typeface="Roboto Light"/>
              </a:rPr>
              <a:t>Rule of Extensibility:</a:t>
            </a:r>
            <a:r>
              <a:rPr lang="en" sz="1650">
                <a:latin typeface="Roboto Light"/>
                <a:ea typeface="Roboto Light"/>
                <a:cs typeface="Roboto Light"/>
                <a:sym typeface="Roboto Light"/>
              </a:rPr>
              <a:t> Design for the future, because it will be here sooner than you think</a:t>
            </a:r>
            <a:endParaRPr sz="1160">
              <a:latin typeface="Roboto Light"/>
              <a:ea typeface="Roboto Light"/>
              <a:cs typeface="Roboto Light"/>
              <a:sym typeface="Roboto Light"/>
            </a:endParaRPr>
          </a:p>
        </p:txBody>
      </p:sp>
      <p:pic>
        <p:nvPicPr>
          <p:cNvPr id="100" name="Google Shape;100;p19"/>
          <p:cNvPicPr preferRelativeResize="0"/>
          <p:nvPr/>
        </p:nvPicPr>
        <p:blipFill rotWithShape="1">
          <a:blip r:embed="rId3">
            <a:alphaModFix/>
          </a:blip>
          <a:srcRect b="0" l="0" r="0" t="0"/>
          <a:stretch/>
        </p:blipFill>
        <p:spPr>
          <a:xfrm>
            <a:off x="7078875" y="1112625"/>
            <a:ext cx="1385887" cy="3200399"/>
          </a:xfrm>
          <a:prstGeom prst="rect">
            <a:avLst/>
          </a:prstGeom>
          <a:noFill/>
          <a:ln>
            <a:noFill/>
          </a:ln>
        </p:spPr>
      </p:pic>
      <p:sp>
        <p:nvSpPr>
          <p:cNvPr id="101" name="Google Shape;101;p19"/>
          <p:cNvSpPr txBox="1"/>
          <p:nvPr/>
        </p:nvSpPr>
        <p:spPr>
          <a:xfrm>
            <a:off x="983400" y="4516300"/>
            <a:ext cx="7177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chemeClr val="dk1"/>
                </a:solidFill>
                <a:latin typeface="Calibri"/>
                <a:ea typeface="Calibri"/>
                <a:cs typeface="Calibri"/>
                <a:sym typeface="Calibri"/>
              </a:rPr>
              <a:t>Source : </a:t>
            </a:r>
            <a:r>
              <a:rPr b="0" i="0" lang="en" sz="1800" u="sng" cap="none" strike="noStrike">
                <a:solidFill>
                  <a:schemeClr val="dk1"/>
                </a:solidFill>
                <a:latin typeface="Calibri"/>
                <a:ea typeface="Calibri"/>
                <a:cs typeface="Calibri"/>
                <a:sym typeface="Calibri"/>
                <a:hlinkClick r:id="rId4">
                  <a:extLst>
                    <a:ext uri="{A12FA001-AC4F-418D-AE19-62706E023703}">
                      <ahyp:hlinkClr val="tx"/>
                    </a:ext>
                  </a:extLst>
                </a:hlinkClick>
              </a:rPr>
              <a:t>http://www.catb.org/esr/writings/taoup/html/ch01s06.html</a:t>
            </a:r>
            <a:endParaRPr sz="1800">
              <a:solidFill>
                <a:schemeClr val="dk1"/>
              </a:solidFill>
              <a:latin typeface="Calibri"/>
              <a:ea typeface="Calibri"/>
              <a:cs typeface="Calibri"/>
              <a:sym typeface="Calibri"/>
            </a:endParaRPr>
          </a:p>
        </p:txBody>
      </p:sp>
      <p:sp>
        <p:nvSpPr>
          <p:cNvPr id="102" name="Google Shape;102;p19"/>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u="none">
                <a:solidFill>
                  <a:schemeClr val="lt1"/>
                </a:solidFill>
                <a:latin typeface="Roboto Light"/>
                <a:ea typeface="Roboto Light"/>
                <a:cs typeface="Roboto Light"/>
                <a:sym typeface="Roboto Light"/>
              </a:rPr>
              <a:t>Art of Unix Programming  (Cont’d)</a:t>
            </a:r>
            <a:endParaRPr sz="3500">
              <a:latin typeface="Roboto Light"/>
              <a:ea typeface="Roboto Light"/>
              <a:cs typeface="Roboto Light"/>
              <a:sym typeface="Roboto Light"/>
            </a:endParaRPr>
          </a:p>
        </p:txBody>
      </p:sp>
      <p:sp>
        <p:nvSpPr>
          <p:cNvPr id="103" name="Google Shape;103;p19"/>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5">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idx="1" type="body"/>
          </p:nvPr>
        </p:nvSpPr>
        <p:spPr>
          <a:xfrm>
            <a:off x="1152300" y="1745300"/>
            <a:ext cx="2525400" cy="1840500"/>
          </a:xfrm>
          <a:prstGeom prst="rect">
            <a:avLst/>
          </a:prstGeom>
          <a:noFill/>
          <a:ln>
            <a:noFill/>
          </a:ln>
        </p:spPr>
        <p:txBody>
          <a:bodyPr anchorCtr="0" anchor="t" bIns="45700" lIns="91425" spcFirstLastPara="1" rIns="91425" wrap="square" tIns="45700">
            <a:noAutofit/>
          </a:bodyPr>
          <a:lstStyle/>
          <a:p>
            <a:pPr indent="-387350" lvl="0" marL="457200" rtl="0" algn="l">
              <a:spcBef>
                <a:spcPts val="0"/>
              </a:spcBef>
              <a:spcAft>
                <a:spcPts val="0"/>
              </a:spcAft>
              <a:buSzPts val="2500"/>
              <a:buFont typeface="Roboto Light"/>
              <a:buChar char="●"/>
            </a:pPr>
            <a:r>
              <a:rPr lang="en" sz="2500">
                <a:latin typeface="Roboto Light"/>
                <a:ea typeface="Roboto Light"/>
                <a:cs typeface="Roboto Light"/>
                <a:sym typeface="Roboto Light"/>
              </a:rPr>
              <a:t>Rigidity</a:t>
            </a:r>
            <a:endParaRPr sz="2500">
              <a:latin typeface="Roboto Light"/>
              <a:ea typeface="Roboto Light"/>
              <a:cs typeface="Roboto Light"/>
              <a:sym typeface="Roboto Light"/>
            </a:endParaRPr>
          </a:p>
          <a:p>
            <a:pPr indent="-387350" lvl="0" marL="457200" rtl="0" algn="l">
              <a:spcBef>
                <a:spcPts val="0"/>
              </a:spcBef>
              <a:spcAft>
                <a:spcPts val="0"/>
              </a:spcAft>
              <a:buSzPts val="2500"/>
              <a:buFont typeface="Roboto Light"/>
              <a:buChar char="●"/>
            </a:pPr>
            <a:r>
              <a:rPr lang="en" sz="2500">
                <a:latin typeface="Roboto Light"/>
                <a:ea typeface="Roboto Light"/>
                <a:cs typeface="Roboto Light"/>
                <a:sym typeface="Roboto Light"/>
              </a:rPr>
              <a:t>Fragility</a:t>
            </a:r>
            <a:endParaRPr sz="2500">
              <a:latin typeface="Roboto Light"/>
              <a:ea typeface="Roboto Light"/>
              <a:cs typeface="Roboto Light"/>
              <a:sym typeface="Roboto Light"/>
            </a:endParaRPr>
          </a:p>
          <a:p>
            <a:pPr indent="-387350" lvl="0" marL="457200" rtl="0" algn="l">
              <a:spcBef>
                <a:spcPts val="0"/>
              </a:spcBef>
              <a:spcAft>
                <a:spcPts val="0"/>
              </a:spcAft>
              <a:buSzPts val="2500"/>
              <a:buFont typeface="Roboto Light"/>
              <a:buChar char="●"/>
            </a:pPr>
            <a:r>
              <a:rPr lang="en" sz="2500">
                <a:latin typeface="Roboto Light"/>
                <a:ea typeface="Roboto Light"/>
                <a:cs typeface="Roboto Light"/>
                <a:sym typeface="Roboto Light"/>
              </a:rPr>
              <a:t>Immobility</a:t>
            </a:r>
            <a:endParaRPr sz="2500">
              <a:latin typeface="Roboto Light"/>
              <a:ea typeface="Roboto Light"/>
              <a:cs typeface="Roboto Light"/>
              <a:sym typeface="Roboto Light"/>
            </a:endParaRPr>
          </a:p>
          <a:p>
            <a:pPr indent="-387350" lvl="0" marL="457200" rtl="0" algn="l">
              <a:spcBef>
                <a:spcPts val="0"/>
              </a:spcBef>
              <a:spcAft>
                <a:spcPts val="0"/>
              </a:spcAft>
              <a:buSzPts val="2500"/>
              <a:buFont typeface="Roboto Light"/>
              <a:buChar char="●"/>
            </a:pPr>
            <a:r>
              <a:rPr lang="en" sz="2500">
                <a:latin typeface="Roboto Light"/>
                <a:ea typeface="Roboto Light"/>
                <a:cs typeface="Roboto Light"/>
                <a:sym typeface="Roboto Light"/>
              </a:rPr>
              <a:t>Viscosity</a:t>
            </a:r>
            <a:endParaRPr sz="2500">
              <a:latin typeface="Roboto Light"/>
              <a:ea typeface="Roboto Light"/>
              <a:cs typeface="Roboto Light"/>
              <a:sym typeface="Roboto Light"/>
            </a:endParaRPr>
          </a:p>
        </p:txBody>
      </p:sp>
      <p:sp>
        <p:nvSpPr>
          <p:cNvPr id="109" name="Google Shape;109;p20"/>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Symptoms of Rotting Design</a:t>
            </a:r>
            <a:endParaRPr sz="3500">
              <a:latin typeface="Roboto Light"/>
              <a:ea typeface="Roboto Light"/>
              <a:cs typeface="Roboto Light"/>
              <a:sym typeface="Roboto Light"/>
            </a:endParaRPr>
          </a:p>
        </p:txBody>
      </p:sp>
      <p:pic>
        <p:nvPicPr>
          <p:cNvPr id="110" name="Google Shape;110;p20"/>
          <p:cNvPicPr preferRelativeResize="0"/>
          <p:nvPr/>
        </p:nvPicPr>
        <p:blipFill>
          <a:blip r:embed="rId3">
            <a:alphaModFix/>
          </a:blip>
          <a:stretch>
            <a:fillRect/>
          </a:stretch>
        </p:blipFill>
        <p:spPr>
          <a:xfrm>
            <a:off x="4396400" y="913200"/>
            <a:ext cx="4233989" cy="3777775"/>
          </a:xfrm>
          <a:prstGeom prst="rect">
            <a:avLst/>
          </a:prstGeom>
          <a:noFill/>
          <a:ln>
            <a:noFill/>
          </a:ln>
        </p:spPr>
      </p:pic>
      <p:sp>
        <p:nvSpPr>
          <p:cNvPr id="111" name="Google Shape;111;p20"/>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1" type="body"/>
          </p:nvPr>
        </p:nvSpPr>
        <p:spPr>
          <a:xfrm>
            <a:off x="457200" y="1085851"/>
            <a:ext cx="4648200" cy="1543200"/>
          </a:xfrm>
          <a:prstGeom prst="rect">
            <a:avLst/>
          </a:prstGeom>
          <a:noFill/>
          <a:ln>
            <a:noFill/>
          </a:ln>
        </p:spPr>
        <p:txBody>
          <a:bodyPr anchorCtr="0" anchor="t" bIns="45700" lIns="91425" spcFirstLastPara="1" rIns="91425" wrap="square" tIns="45700">
            <a:noAutofit/>
          </a:bodyPr>
          <a:lstStyle/>
          <a:p>
            <a:pPr indent="-285750" lvl="0" marL="342900" rtl="0" algn="l">
              <a:lnSpc>
                <a:spcPct val="95000"/>
              </a:lnSpc>
              <a:spcBef>
                <a:spcPts val="0"/>
              </a:spcBef>
              <a:spcAft>
                <a:spcPts val="0"/>
              </a:spcAft>
              <a:buClr>
                <a:schemeClr val="dk1"/>
              </a:buClr>
              <a:buSzPts val="2300"/>
              <a:buFont typeface="Roboto Light"/>
              <a:buChar char="●"/>
            </a:pPr>
            <a:r>
              <a:rPr lang="en" sz="2300">
                <a:latin typeface="Roboto Light"/>
                <a:ea typeface="Roboto Light"/>
                <a:cs typeface="Roboto Light"/>
                <a:sym typeface="Roboto Light"/>
              </a:rPr>
              <a:t>Difficult to change</a:t>
            </a:r>
            <a:endParaRPr sz="2300">
              <a:latin typeface="Roboto Light"/>
              <a:ea typeface="Roboto Light"/>
              <a:cs typeface="Roboto Light"/>
              <a:sym typeface="Roboto Light"/>
            </a:endParaRPr>
          </a:p>
          <a:p>
            <a:pPr indent="-285750" lvl="0" marL="342900" rtl="0" algn="l">
              <a:lnSpc>
                <a:spcPct val="95000"/>
              </a:lnSpc>
              <a:spcBef>
                <a:spcPts val="640"/>
              </a:spcBef>
              <a:spcAft>
                <a:spcPts val="0"/>
              </a:spcAft>
              <a:buClr>
                <a:schemeClr val="dk1"/>
              </a:buClr>
              <a:buSzPts val="2300"/>
              <a:buFont typeface="Roboto Light"/>
              <a:buChar char="●"/>
            </a:pPr>
            <a:r>
              <a:rPr lang="en" sz="2300">
                <a:latin typeface="Roboto Light"/>
                <a:ea typeface="Roboto Light"/>
                <a:cs typeface="Roboto Light"/>
                <a:sym typeface="Roboto Light"/>
              </a:rPr>
              <a:t>Ripple Effect</a:t>
            </a:r>
            <a:endParaRPr sz="2300">
              <a:latin typeface="Roboto Light"/>
              <a:ea typeface="Roboto Light"/>
              <a:cs typeface="Roboto Light"/>
              <a:sym typeface="Roboto Light"/>
            </a:endParaRPr>
          </a:p>
          <a:p>
            <a:pPr indent="-285750" lvl="0" marL="342900" rtl="0" algn="l">
              <a:lnSpc>
                <a:spcPct val="95000"/>
              </a:lnSpc>
              <a:spcBef>
                <a:spcPts val="640"/>
              </a:spcBef>
              <a:spcAft>
                <a:spcPts val="0"/>
              </a:spcAft>
              <a:buClr>
                <a:schemeClr val="dk1"/>
              </a:buClr>
              <a:buSzPts val="2300"/>
              <a:buFont typeface="Roboto Light"/>
              <a:buChar char="●"/>
            </a:pPr>
            <a:r>
              <a:rPr lang="en" sz="2300">
                <a:latin typeface="Roboto Light"/>
                <a:ea typeface="Roboto Light"/>
                <a:cs typeface="Roboto Light"/>
                <a:sym typeface="Roboto Light"/>
              </a:rPr>
              <a:t>Entering roach motel</a:t>
            </a:r>
            <a:endParaRPr sz="2300">
              <a:latin typeface="Roboto Light"/>
              <a:ea typeface="Roboto Light"/>
              <a:cs typeface="Roboto Light"/>
              <a:sym typeface="Roboto Light"/>
            </a:endParaRPr>
          </a:p>
          <a:p>
            <a:pPr indent="0" lvl="0" marL="0" rtl="0" algn="l">
              <a:lnSpc>
                <a:spcPct val="95000"/>
              </a:lnSpc>
              <a:spcBef>
                <a:spcPts val="640"/>
              </a:spcBef>
              <a:spcAft>
                <a:spcPts val="1200"/>
              </a:spcAft>
              <a:buClr>
                <a:schemeClr val="dk1"/>
              </a:buClr>
              <a:buSzPts val="2240"/>
              <a:buNone/>
            </a:pPr>
            <a:r>
              <a:t/>
            </a:r>
            <a:endParaRPr sz="1760">
              <a:latin typeface="Roboto Light"/>
              <a:ea typeface="Roboto Light"/>
              <a:cs typeface="Roboto Light"/>
              <a:sym typeface="Roboto Light"/>
            </a:endParaRPr>
          </a:p>
        </p:txBody>
      </p:sp>
      <p:sp>
        <p:nvSpPr>
          <p:cNvPr id="117" name="Google Shape;117;p21"/>
          <p:cNvSpPr/>
          <p:nvPr/>
        </p:nvSpPr>
        <p:spPr>
          <a:xfrm>
            <a:off x="389925" y="2629050"/>
            <a:ext cx="4559700" cy="760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chemeClr val="dk1"/>
                </a:solidFill>
                <a:latin typeface="Roboto Light"/>
                <a:ea typeface="Roboto Light"/>
                <a:cs typeface="Roboto Light"/>
                <a:sym typeface="Roboto Light"/>
              </a:rPr>
              <a:t>A software can be called a rigid when it is difficult to change even in a sample way</a:t>
            </a:r>
            <a:endParaRPr>
              <a:latin typeface="Roboto Light"/>
              <a:ea typeface="Roboto Light"/>
              <a:cs typeface="Roboto Light"/>
              <a:sym typeface="Roboto Light"/>
            </a:endParaRPr>
          </a:p>
        </p:txBody>
      </p:sp>
      <p:sp>
        <p:nvSpPr>
          <p:cNvPr id="118" name="Google Shape;118;p21"/>
          <p:cNvSpPr/>
          <p:nvPr/>
        </p:nvSpPr>
        <p:spPr>
          <a:xfrm>
            <a:off x="307425" y="3389850"/>
            <a:ext cx="5526600" cy="12675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 sz="1700">
                <a:solidFill>
                  <a:schemeClr val="dk1"/>
                </a:solidFill>
                <a:latin typeface="Roboto Light"/>
                <a:ea typeface="Roboto Light"/>
                <a:cs typeface="Roboto Light"/>
                <a:sym typeface="Roboto Light"/>
              </a:rPr>
              <a:t>When the manager’s fears become so acute that they refuse to allow changes to software,  official rigidity sets in. Thus, what starts as a design deficiency, winds up being  adverse management policy. </a:t>
            </a:r>
            <a:endParaRPr sz="1700">
              <a:latin typeface="Roboto Light"/>
              <a:ea typeface="Roboto Light"/>
              <a:cs typeface="Roboto Light"/>
              <a:sym typeface="Roboto Light"/>
            </a:endParaRPr>
          </a:p>
        </p:txBody>
      </p:sp>
      <p:pic>
        <p:nvPicPr>
          <p:cNvPr id="119" name="Google Shape;119;p21"/>
          <p:cNvPicPr preferRelativeResize="0"/>
          <p:nvPr/>
        </p:nvPicPr>
        <p:blipFill rotWithShape="1">
          <a:blip r:embed="rId3">
            <a:alphaModFix/>
          </a:blip>
          <a:srcRect b="0" l="0" r="0" t="0"/>
          <a:stretch/>
        </p:blipFill>
        <p:spPr>
          <a:xfrm>
            <a:off x="5989400" y="760800"/>
            <a:ext cx="3154600" cy="4082574"/>
          </a:xfrm>
          <a:prstGeom prst="rect">
            <a:avLst/>
          </a:prstGeom>
          <a:noFill/>
          <a:ln>
            <a:noFill/>
          </a:ln>
        </p:spPr>
      </p:pic>
      <p:sp>
        <p:nvSpPr>
          <p:cNvPr id="120" name="Google Shape;120;p21"/>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Rigidity</a:t>
            </a:r>
            <a:endParaRPr sz="3500">
              <a:latin typeface="Roboto Light"/>
              <a:ea typeface="Roboto Light"/>
              <a:cs typeface="Roboto Light"/>
              <a:sym typeface="Roboto Light"/>
            </a:endParaRPr>
          </a:p>
        </p:txBody>
      </p:sp>
      <p:sp>
        <p:nvSpPr>
          <p:cNvPr id="121" name="Google Shape;121;p21"/>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idx="1" type="body"/>
          </p:nvPr>
        </p:nvSpPr>
        <p:spPr>
          <a:xfrm>
            <a:off x="349300" y="1061750"/>
            <a:ext cx="5618100" cy="1617900"/>
          </a:xfrm>
          <a:prstGeom prst="rect">
            <a:avLst/>
          </a:prstGeom>
          <a:noFill/>
          <a:ln>
            <a:noFill/>
          </a:ln>
        </p:spPr>
        <p:txBody>
          <a:bodyPr anchorCtr="0" anchor="t" bIns="45700" lIns="91425" spcFirstLastPara="1" rIns="91425" wrap="square" tIns="45700">
            <a:normAutofit/>
          </a:bodyPr>
          <a:lstStyle/>
          <a:p>
            <a:pPr indent="-311150" lvl="0" marL="342900" rtl="0" algn="l">
              <a:spcBef>
                <a:spcPts val="0"/>
              </a:spcBef>
              <a:spcAft>
                <a:spcPts val="0"/>
              </a:spcAft>
              <a:buClr>
                <a:schemeClr val="dk1"/>
              </a:buClr>
              <a:buSzPts val="1500"/>
              <a:buFont typeface="Roboto Light"/>
              <a:buChar char="❑"/>
            </a:pPr>
            <a:r>
              <a:rPr lang="en" sz="1500">
                <a:latin typeface="Roboto Light"/>
                <a:ea typeface="Roboto Light"/>
                <a:cs typeface="Roboto Light"/>
                <a:sym typeface="Roboto Light"/>
              </a:rPr>
              <a:t>Conceptually irrelevant pieces breaking in multiple places</a:t>
            </a:r>
            <a:endParaRPr sz="1500">
              <a:latin typeface="Roboto Light"/>
              <a:ea typeface="Roboto Light"/>
              <a:cs typeface="Roboto Light"/>
              <a:sym typeface="Roboto Light"/>
            </a:endParaRPr>
          </a:p>
          <a:p>
            <a:pPr indent="-311150" lvl="0" marL="342900" rtl="0" algn="l">
              <a:spcBef>
                <a:spcPts val="400"/>
              </a:spcBef>
              <a:spcAft>
                <a:spcPts val="0"/>
              </a:spcAft>
              <a:buClr>
                <a:schemeClr val="dk1"/>
              </a:buClr>
              <a:buSzPts val="1500"/>
              <a:buFont typeface="Roboto Light"/>
              <a:buChar char="❑"/>
            </a:pPr>
            <a:r>
              <a:rPr lang="en" sz="1500">
                <a:latin typeface="Roboto Light"/>
                <a:ea typeface="Roboto Light"/>
                <a:cs typeface="Roboto Light"/>
                <a:sym typeface="Roboto Light"/>
              </a:rPr>
              <a:t>Such software is impossible to maintain. Every fix makes it worse, introducing more problems than are solved</a:t>
            </a:r>
            <a:endParaRPr sz="1500">
              <a:latin typeface="Roboto Light"/>
              <a:ea typeface="Roboto Light"/>
              <a:cs typeface="Roboto Light"/>
              <a:sym typeface="Roboto Light"/>
            </a:endParaRPr>
          </a:p>
          <a:p>
            <a:pPr indent="-311150" lvl="0" marL="342900" rtl="0" algn="l">
              <a:spcBef>
                <a:spcPts val="400"/>
              </a:spcBef>
              <a:spcAft>
                <a:spcPts val="1200"/>
              </a:spcAft>
              <a:buClr>
                <a:schemeClr val="dk1"/>
              </a:buClr>
              <a:buSzPts val="1500"/>
              <a:buFont typeface="Roboto Light"/>
              <a:buChar char="❑"/>
            </a:pPr>
            <a:r>
              <a:rPr lang="en" sz="1500">
                <a:latin typeface="Roboto Light"/>
                <a:ea typeface="Roboto Light"/>
                <a:cs typeface="Roboto Light"/>
                <a:sym typeface="Roboto Light"/>
              </a:rPr>
              <a:t>Managers and Customers have a feeling that Developers have lost control over the project</a:t>
            </a:r>
            <a:endParaRPr sz="1500">
              <a:latin typeface="Roboto Light"/>
              <a:ea typeface="Roboto Light"/>
              <a:cs typeface="Roboto Light"/>
              <a:sym typeface="Roboto Light"/>
            </a:endParaRPr>
          </a:p>
        </p:txBody>
      </p:sp>
      <p:sp>
        <p:nvSpPr>
          <p:cNvPr id="127" name="Google Shape;127;p22"/>
          <p:cNvSpPr/>
          <p:nvPr/>
        </p:nvSpPr>
        <p:spPr>
          <a:xfrm>
            <a:off x="174200" y="3160550"/>
            <a:ext cx="5841000" cy="10845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
                <a:solidFill>
                  <a:schemeClr val="dk1"/>
                </a:solidFill>
                <a:latin typeface="Roboto Light"/>
                <a:ea typeface="Roboto Light"/>
                <a:cs typeface="Roboto Light"/>
                <a:sym typeface="Roboto Light"/>
              </a:rPr>
              <a:t>Closely related to rigidity is fragility. Fragility is the tendency of the software to break in many places every time it is changed. Often the breakage occurs  in areas that have no conceptual relationship with the area that was changed</a:t>
            </a:r>
            <a:endParaRPr>
              <a:latin typeface="Roboto Light"/>
              <a:ea typeface="Roboto Light"/>
              <a:cs typeface="Roboto Light"/>
              <a:sym typeface="Roboto Light"/>
            </a:endParaRPr>
          </a:p>
        </p:txBody>
      </p:sp>
      <p:sp>
        <p:nvSpPr>
          <p:cNvPr id="128" name="Google Shape;128;p22"/>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Fragility</a:t>
            </a:r>
            <a:endParaRPr sz="3500">
              <a:latin typeface="Roboto Light"/>
              <a:ea typeface="Roboto Light"/>
              <a:cs typeface="Roboto Light"/>
              <a:sym typeface="Roboto Light"/>
            </a:endParaRPr>
          </a:p>
        </p:txBody>
      </p:sp>
      <p:pic>
        <p:nvPicPr>
          <p:cNvPr id="129" name="Google Shape;129;p22"/>
          <p:cNvPicPr preferRelativeResize="0"/>
          <p:nvPr/>
        </p:nvPicPr>
        <p:blipFill rotWithShape="1">
          <a:blip r:embed="rId3">
            <a:alphaModFix/>
          </a:blip>
          <a:srcRect b="0" l="0" r="24908" t="0"/>
          <a:stretch/>
        </p:blipFill>
        <p:spPr>
          <a:xfrm>
            <a:off x="6015200" y="684600"/>
            <a:ext cx="3128799" cy="4082575"/>
          </a:xfrm>
          <a:prstGeom prst="rect">
            <a:avLst/>
          </a:prstGeom>
          <a:noFill/>
          <a:ln>
            <a:noFill/>
          </a:ln>
        </p:spPr>
      </p:pic>
      <p:sp>
        <p:nvSpPr>
          <p:cNvPr id="130" name="Google Shape;130;p22"/>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idx="1" type="body"/>
          </p:nvPr>
        </p:nvSpPr>
        <p:spPr>
          <a:xfrm>
            <a:off x="403800" y="1023750"/>
            <a:ext cx="3675300" cy="11229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Inability to reuse software</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Software is simply rewritten instead of reused</a:t>
            </a:r>
            <a:endParaRPr>
              <a:latin typeface="Roboto Light"/>
              <a:ea typeface="Roboto Light"/>
              <a:cs typeface="Roboto Light"/>
              <a:sym typeface="Roboto Light"/>
            </a:endParaRPr>
          </a:p>
        </p:txBody>
      </p:sp>
      <p:sp>
        <p:nvSpPr>
          <p:cNvPr id="136" name="Google Shape;136;p23"/>
          <p:cNvSpPr/>
          <p:nvPr/>
        </p:nvSpPr>
        <p:spPr>
          <a:xfrm>
            <a:off x="168150" y="2571750"/>
            <a:ext cx="4146600" cy="1731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 sz="1500">
                <a:solidFill>
                  <a:schemeClr val="dk1"/>
                </a:solidFill>
                <a:latin typeface="Roboto Light"/>
                <a:ea typeface="Roboto Light"/>
                <a:cs typeface="Roboto Light"/>
                <a:sym typeface="Roboto Light"/>
              </a:rPr>
              <a:t>Immobility is the inability to reuse software from other projects or from parts of the same project. It often happens that one engineer will discover that he needs a module that is similar to one that another engineer wrote</a:t>
            </a:r>
            <a:endParaRPr sz="1500">
              <a:latin typeface="Roboto Light"/>
              <a:ea typeface="Roboto Light"/>
              <a:cs typeface="Roboto Light"/>
              <a:sym typeface="Roboto Light"/>
            </a:endParaRPr>
          </a:p>
        </p:txBody>
      </p:sp>
      <p:sp>
        <p:nvSpPr>
          <p:cNvPr id="137" name="Google Shape;137;p23"/>
          <p:cNvSpPr txBox="1"/>
          <p:nvPr/>
        </p:nvSpPr>
        <p:spPr>
          <a:xfrm>
            <a:off x="4954125" y="3898500"/>
            <a:ext cx="37602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a:solidFill>
                  <a:schemeClr val="dk1"/>
                </a:solidFill>
                <a:latin typeface="Roboto Light"/>
                <a:ea typeface="Roboto Light"/>
                <a:cs typeface="Roboto Light"/>
                <a:sym typeface="Roboto Light"/>
              </a:rPr>
              <a:t>I am asking for someone NOT everyone</a:t>
            </a:r>
            <a:endParaRPr>
              <a:latin typeface="Roboto Light"/>
              <a:ea typeface="Roboto Light"/>
              <a:cs typeface="Roboto Light"/>
              <a:sym typeface="Roboto Light"/>
            </a:endParaRPr>
          </a:p>
        </p:txBody>
      </p:sp>
      <p:sp>
        <p:nvSpPr>
          <p:cNvPr id="138" name="Google Shape;138;p23"/>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Immobility</a:t>
            </a:r>
            <a:endParaRPr sz="3500">
              <a:latin typeface="Roboto Light"/>
              <a:ea typeface="Roboto Light"/>
              <a:cs typeface="Roboto Light"/>
              <a:sym typeface="Roboto Light"/>
            </a:endParaRPr>
          </a:p>
        </p:txBody>
      </p:sp>
      <p:pic>
        <p:nvPicPr>
          <p:cNvPr id="139" name="Google Shape;139;p23"/>
          <p:cNvPicPr preferRelativeResize="0"/>
          <p:nvPr/>
        </p:nvPicPr>
        <p:blipFill>
          <a:blip r:embed="rId3">
            <a:alphaModFix/>
          </a:blip>
          <a:stretch>
            <a:fillRect/>
          </a:stretch>
        </p:blipFill>
        <p:spPr>
          <a:xfrm>
            <a:off x="4572000" y="760800"/>
            <a:ext cx="4524450" cy="3087692"/>
          </a:xfrm>
          <a:prstGeom prst="rect">
            <a:avLst/>
          </a:prstGeom>
          <a:noFill/>
          <a:ln>
            <a:noFill/>
          </a:ln>
        </p:spPr>
      </p:pic>
      <p:sp>
        <p:nvSpPr>
          <p:cNvPr id="140" name="Google Shape;140;p23"/>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idx="1" type="body"/>
          </p:nvPr>
        </p:nvSpPr>
        <p:spPr>
          <a:xfrm>
            <a:off x="231550" y="1076800"/>
            <a:ext cx="5460900" cy="3603000"/>
          </a:xfrm>
          <a:prstGeom prst="rect">
            <a:avLst/>
          </a:prstGeom>
          <a:noFill/>
          <a:ln>
            <a:noFill/>
          </a:ln>
        </p:spPr>
        <p:txBody>
          <a:bodyPr anchorCtr="0" anchor="t" bIns="45700" lIns="91425" spcFirstLastPara="1" rIns="91425" wrap="square" tIns="45700">
            <a:noAutofit/>
          </a:bodyPr>
          <a:lstStyle/>
          <a:p>
            <a:pPr indent="-361950" lvl="0" marL="457200" rtl="0" algn="l">
              <a:spcBef>
                <a:spcPts val="0"/>
              </a:spcBef>
              <a:spcAft>
                <a:spcPts val="0"/>
              </a:spcAft>
              <a:buSzPts val="2100"/>
              <a:buFont typeface="Roboto Light"/>
              <a:buChar char="●"/>
            </a:pPr>
            <a:r>
              <a:rPr lang="en" sz="2100">
                <a:latin typeface="Roboto Light"/>
                <a:ea typeface="Roboto Light"/>
                <a:cs typeface="Roboto Light"/>
                <a:sym typeface="Roboto Light"/>
              </a:rPr>
              <a:t>It is easy to do the wrong thing, but hard to do the right thing</a:t>
            </a:r>
            <a:endParaRPr sz="2100">
              <a:latin typeface="Roboto Light"/>
              <a:ea typeface="Roboto Light"/>
              <a:cs typeface="Roboto Light"/>
              <a:sym typeface="Roboto Light"/>
            </a:endParaRPr>
          </a:p>
          <a:p>
            <a:pPr indent="-361950" lvl="0" marL="457200" rtl="0" algn="l">
              <a:spcBef>
                <a:spcPts val="1000"/>
              </a:spcBef>
              <a:spcAft>
                <a:spcPts val="0"/>
              </a:spcAft>
              <a:buSzPts val="2100"/>
              <a:buFont typeface="Roboto Light"/>
              <a:buChar char="●"/>
            </a:pPr>
            <a:r>
              <a:rPr lang="en" sz="2100">
                <a:latin typeface="Roboto Light"/>
                <a:ea typeface="Roboto Light"/>
                <a:cs typeface="Roboto Light"/>
                <a:sym typeface="Roboto Light"/>
              </a:rPr>
              <a:t>When the design preserving methods are harder to employ than the hacks, then the viscosity of the design is high</a:t>
            </a:r>
            <a:endParaRPr sz="2100">
              <a:latin typeface="Roboto Light"/>
              <a:ea typeface="Roboto Light"/>
              <a:cs typeface="Roboto Light"/>
              <a:sym typeface="Roboto Light"/>
            </a:endParaRPr>
          </a:p>
          <a:p>
            <a:pPr indent="-361950" lvl="0" marL="457200" rtl="0" algn="l">
              <a:spcBef>
                <a:spcPts val="1000"/>
              </a:spcBef>
              <a:spcAft>
                <a:spcPts val="0"/>
              </a:spcAft>
              <a:buSzPts val="2100"/>
              <a:buFont typeface="Roboto Light"/>
              <a:buChar char="●"/>
            </a:pPr>
            <a:r>
              <a:rPr lang="en" sz="2100">
                <a:latin typeface="Roboto Light"/>
                <a:ea typeface="Roboto Light"/>
                <a:cs typeface="Roboto Light"/>
                <a:sym typeface="Roboto Light"/>
              </a:rPr>
              <a:t>Viscosity of environment comes about when the development environment is slow and inefficient</a:t>
            </a:r>
            <a:endParaRPr sz="2100">
              <a:latin typeface="Roboto Light"/>
              <a:ea typeface="Roboto Light"/>
              <a:cs typeface="Roboto Light"/>
              <a:sym typeface="Roboto Light"/>
            </a:endParaRPr>
          </a:p>
          <a:p>
            <a:pPr indent="-184150" lvl="0" marL="342900" rtl="0" algn="l">
              <a:spcBef>
                <a:spcPts val="1000"/>
              </a:spcBef>
              <a:spcAft>
                <a:spcPts val="1000"/>
              </a:spcAft>
              <a:buClr>
                <a:schemeClr val="dk1"/>
              </a:buClr>
              <a:buSzPts val="2500"/>
              <a:buNone/>
            </a:pPr>
            <a:r>
              <a:t/>
            </a:r>
            <a:endParaRPr sz="2100">
              <a:latin typeface="Roboto Light"/>
              <a:ea typeface="Roboto Light"/>
              <a:cs typeface="Roboto Light"/>
              <a:sym typeface="Roboto Light"/>
            </a:endParaRPr>
          </a:p>
        </p:txBody>
      </p:sp>
      <p:sp>
        <p:nvSpPr>
          <p:cNvPr id="146" name="Google Shape;146;p24"/>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Viscosity</a:t>
            </a:r>
            <a:endParaRPr sz="3500">
              <a:latin typeface="Roboto Light"/>
              <a:ea typeface="Roboto Light"/>
              <a:cs typeface="Roboto Light"/>
              <a:sym typeface="Roboto Light"/>
            </a:endParaRPr>
          </a:p>
        </p:txBody>
      </p:sp>
      <p:pic>
        <p:nvPicPr>
          <p:cNvPr id="147" name="Google Shape;147;p24"/>
          <p:cNvPicPr preferRelativeResize="0"/>
          <p:nvPr/>
        </p:nvPicPr>
        <p:blipFill>
          <a:blip r:embed="rId3">
            <a:alphaModFix/>
          </a:blip>
          <a:stretch>
            <a:fillRect/>
          </a:stretch>
        </p:blipFill>
        <p:spPr>
          <a:xfrm>
            <a:off x="5207815" y="822138"/>
            <a:ext cx="3936185" cy="3959900"/>
          </a:xfrm>
          <a:prstGeom prst="rect">
            <a:avLst/>
          </a:prstGeom>
          <a:noFill/>
          <a:ln>
            <a:noFill/>
          </a:ln>
        </p:spPr>
      </p:pic>
      <p:sp>
        <p:nvSpPr>
          <p:cNvPr id="148" name="Google Shape;148;p24"/>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5"/>
          <p:cNvPicPr preferRelativeResize="0"/>
          <p:nvPr/>
        </p:nvPicPr>
        <p:blipFill rotWithShape="1">
          <a:blip r:embed="rId3">
            <a:alphaModFix/>
          </a:blip>
          <a:srcRect b="0" l="0" r="0" t="0"/>
          <a:stretch/>
        </p:blipFill>
        <p:spPr>
          <a:xfrm>
            <a:off x="0" y="876300"/>
            <a:ext cx="9144000" cy="3415904"/>
          </a:xfrm>
          <a:prstGeom prst="rect">
            <a:avLst/>
          </a:prstGeom>
          <a:noFill/>
          <a:ln>
            <a:noFill/>
          </a:ln>
        </p:spPr>
      </p:pic>
      <p:sp>
        <p:nvSpPr>
          <p:cNvPr id="154" name="Google Shape;154;p25"/>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idx="1" type="body"/>
          </p:nvPr>
        </p:nvSpPr>
        <p:spPr>
          <a:xfrm>
            <a:off x="279575" y="1629450"/>
            <a:ext cx="4493700" cy="18846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Single Responsibility Principle (SRP)</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Open Closed Principle (OCP)</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Liskov Substitution Principle (LSP)</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Interface Segregation Principle (ISP)</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Dependency Inversion Principle (DIP)</a:t>
            </a:r>
            <a:endParaRPr>
              <a:latin typeface="Roboto Light"/>
              <a:ea typeface="Roboto Light"/>
              <a:cs typeface="Roboto Light"/>
              <a:sym typeface="Roboto Light"/>
            </a:endParaRPr>
          </a:p>
        </p:txBody>
      </p:sp>
      <p:sp>
        <p:nvSpPr>
          <p:cNvPr id="160" name="Google Shape;160;p26"/>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SOLID &amp; More….</a:t>
            </a:r>
            <a:endParaRPr sz="3500">
              <a:latin typeface="Roboto Light"/>
              <a:ea typeface="Roboto Light"/>
              <a:cs typeface="Roboto Light"/>
              <a:sym typeface="Roboto Light"/>
            </a:endParaRPr>
          </a:p>
        </p:txBody>
      </p:sp>
      <p:sp>
        <p:nvSpPr>
          <p:cNvPr id="161" name="Google Shape;161;p26"/>
          <p:cNvSpPr txBox="1"/>
          <p:nvPr>
            <p:ph idx="1" type="body"/>
          </p:nvPr>
        </p:nvSpPr>
        <p:spPr>
          <a:xfrm>
            <a:off x="5098100" y="1487250"/>
            <a:ext cx="4045800" cy="2354700"/>
          </a:xfrm>
          <a:prstGeom prst="rect">
            <a:avLst/>
          </a:prstGeom>
          <a:noFill/>
          <a:ln>
            <a:noFill/>
          </a:ln>
        </p:spPr>
        <p:txBody>
          <a:bodyPr anchorCtr="0" anchor="t" bIns="45700" lIns="91425" spcFirstLastPara="1" rIns="91425" wrap="square" tIns="45700">
            <a:normAutofit/>
          </a:bodyPr>
          <a:lstStyle/>
          <a:p>
            <a:pPr indent="-342900" lvl="0" marL="457200" rtl="0" algn="l">
              <a:spcBef>
                <a:spcPts val="448"/>
              </a:spcBef>
              <a:spcAft>
                <a:spcPts val="0"/>
              </a:spcAft>
              <a:buSzPts val="1800"/>
              <a:buFont typeface="Roboto Light"/>
              <a:buChar char="●"/>
            </a:pPr>
            <a:r>
              <a:rPr lang="en">
                <a:latin typeface="Roboto Light"/>
                <a:ea typeface="Roboto Light"/>
                <a:cs typeface="Roboto Light"/>
                <a:sym typeface="Roboto Light"/>
              </a:rPr>
              <a:t>Tell Don’t Ask</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DRY – Don’t Repeat yourself</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Once and only once</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The Law of Demeter</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Package Principles</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DRY</a:t>
            </a:r>
            <a:endParaRPr>
              <a:latin typeface="Roboto Light"/>
              <a:ea typeface="Roboto Light"/>
              <a:cs typeface="Roboto Light"/>
              <a:sym typeface="Roboto Light"/>
            </a:endParaRPr>
          </a:p>
          <a:p>
            <a:pPr indent="-342900" lvl="0" marL="457200" rtl="0" algn="l">
              <a:spcBef>
                <a:spcPts val="0"/>
              </a:spcBef>
              <a:spcAft>
                <a:spcPts val="0"/>
              </a:spcAft>
              <a:buSzPts val="1800"/>
              <a:buFont typeface="Roboto Light"/>
              <a:buChar char="●"/>
            </a:pPr>
            <a:r>
              <a:rPr lang="en">
                <a:latin typeface="Roboto Light"/>
                <a:ea typeface="Roboto Light"/>
                <a:cs typeface="Roboto Light"/>
                <a:sym typeface="Roboto Light"/>
              </a:rPr>
              <a:t>YAGNI</a:t>
            </a:r>
            <a:endParaRPr>
              <a:latin typeface="Roboto Light"/>
              <a:ea typeface="Roboto Light"/>
              <a:cs typeface="Roboto Light"/>
              <a:sym typeface="Roboto Light"/>
            </a:endParaRPr>
          </a:p>
        </p:txBody>
      </p:sp>
      <p:sp>
        <p:nvSpPr>
          <p:cNvPr id="162" name="Google Shape;162;p26"/>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7"/>
          <p:cNvPicPr preferRelativeResize="0"/>
          <p:nvPr>
            <p:ph idx="1" type="body"/>
          </p:nvPr>
        </p:nvPicPr>
        <p:blipFill rotWithShape="1">
          <a:blip r:embed="rId3">
            <a:alphaModFix/>
          </a:blip>
          <a:srcRect b="0" l="0" r="0" t="0"/>
          <a:stretch/>
        </p:blipFill>
        <p:spPr>
          <a:xfrm>
            <a:off x="5691000" y="1231738"/>
            <a:ext cx="3453000" cy="3140700"/>
          </a:xfrm>
          <a:prstGeom prst="rect">
            <a:avLst/>
          </a:prstGeom>
          <a:noFill/>
          <a:ln>
            <a:noFill/>
          </a:ln>
        </p:spPr>
      </p:pic>
      <p:sp>
        <p:nvSpPr>
          <p:cNvPr id="168" name="Google Shape;168;p27"/>
          <p:cNvSpPr/>
          <p:nvPr/>
        </p:nvSpPr>
        <p:spPr>
          <a:xfrm>
            <a:off x="791825" y="2189046"/>
            <a:ext cx="4194900" cy="867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 sz="2000">
                <a:solidFill>
                  <a:schemeClr val="dk1"/>
                </a:solidFill>
                <a:latin typeface="Roboto Light"/>
                <a:ea typeface="Roboto Light"/>
                <a:cs typeface="Roboto Light"/>
                <a:sym typeface="Roboto Light"/>
              </a:rPr>
              <a:t>There should never be more than one reason for a class to change.</a:t>
            </a:r>
            <a:endParaRPr sz="2000">
              <a:latin typeface="Roboto Light"/>
              <a:ea typeface="Roboto Light"/>
              <a:cs typeface="Roboto Light"/>
              <a:sym typeface="Roboto Light"/>
            </a:endParaRPr>
          </a:p>
        </p:txBody>
      </p:sp>
      <p:sp>
        <p:nvSpPr>
          <p:cNvPr id="169" name="Google Shape;169;p27"/>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Single Responsibility Principle (SRP)</a:t>
            </a:r>
            <a:endParaRPr sz="3500">
              <a:latin typeface="Roboto Light"/>
              <a:ea typeface="Roboto Light"/>
              <a:cs typeface="Roboto Light"/>
              <a:sym typeface="Roboto Light"/>
            </a:endParaRPr>
          </a:p>
        </p:txBody>
      </p:sp>
      <p:sp>
        <p:nvSpPr>
          <p:cNvPr id="170" name="Google Shape;170;p27"/>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8"/>
          <p:cNvPicPr preferRelativeResize="0"/>
          <p:nvPr/>
        </p:nvPicPr>
        <p:blipFill rotWithShape="1">
          <a:blip r:embed="rId3">
            <a:alphaModFix/>
          </a:blip>
          <a:srcRect b="0" l="0" r="0" t="0"/>
          <a:stretch/>
        </p:blipFill>
        <p:spPr>
          <a:xfrm>
            <a:off x="1409550" y="1221875"/>
            <a:ext cx="6573925" cy="2484625"/>
          </a:xfrm>
          <a:prstGeom prst="rect">
            <a:avLst/>
          </a:prstGeom>
          <a:noFill/>
          <a:ln>
            <a:noFill/>
          </a:ln>
        </p:spPr>
      </p:pic>
      <p:sp>
        <p:nvSpPr>
          <p:cNvPr id="176" name="Google Shape;176;p28"/>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SRP (Cont’d)</a:t>
            </a:r>
            <a:endParaRPr sz="3500">
              <a:latin typeface="Roboto Light"/>
              <a:ea typeface="Roboto Light"/>
              <a:cs typeface="Roboto Light"/>
              <a:sym typeface="Roboto Light"/>
            </a:endParaRPr>
          </a:p>
        </p:txBody>
      </p:sp>
      <p:sp>
        <p:nvSpPr>
          <p:cNvPr id="177" name="Google Shape;177;p28"/>
          <p:cNvSpPr txBox="1"/>
          <p:nvPr/>
        </p:nvSpPr>
        <p:spPr>
          <a:xfrm>
            <a:off x="1409563" y="3706500"/>
            <a:ext cx="6573900" cy="4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2"/>
                </a:solidFill>
                <a:latin typeface="Roboto Light"/>
                <a:ea typeface="Roboto Light"/>
                <a:cs typeface="Roboto Light"/>
                <a:sym typeface="Roboto Light"/>
              </a:rPr>
              <a:t>Rectangle</a:t>
            </a:r>
            <a:r>
              <a:rPr lang="en" sz="1500">
                <a:solidFill>
                  <a:schemeClr val="dk2"/>
                </a:solidFill>
                <a:latin typeface="Roboto Light"/>
                <a:ea typeface="Roboto Light"/>
                <a:cs typeface="Roboto Light"/>
                <a:sym typeface="Roboto Light"/>
              </a:rPr>
              <a:t> class will change for two reasons</a:t>
            </a:r>
            <a:endParaRPr sz="1500">
              <a:solidFill>
                <a:schemeClr val="dk2"/>
              </a:solidFill>
              <a:latin typeface="Roboto Light"/>
              <a:ea typeface="Roboto Light"/>
              <a:cs typeface="Roboto Light"/>
              <a:sym typeface="Roboto Light"/>
            </a:endParaRPr>
          </a:p>
        </p:txBody>
      </p:sp>
      <p:sp>
        <p:nvSpPr>
          <p:cNvPr id="178" name="Google Shape;178;p28"/>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9"/>
          <p:cNvPicPr preferRelativeResize="0"/>
          <p:nvPr/>
        </p:nvPicPr>
        <p:blipFill rotWithShape="1">
          <a:blip r:embed="rId3">
            <a:alphaModFix/>
          </a:blip>
          <a:srcRect b="0" l="0" r="0" t="0"/>
          <a:stretch/>
        </p:blipFill>
        <p:spPr>
          <a:xfrm>
            <a:off x="1191900" y="1288513"/>
            <a:ext cx="6917875" cy="3027150"/>
          </a:xfrm>
          <a:prstGeom prst="rect">
            <a:avLst/>
          </a:prstGeom>
          <a:noFill/>
          <a:ln>
            <a:noFill/>
          </a:ln>
        </p:spPr>
      </p:pic>
      <p:sp>
        <p:nvSpPr>
          <p:cNvPr id="184" name="Google Shape;184;p29"/>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SRP (Cont’d)</a:t>
            </a:r>
            <a:endParaRPr sz="3500">
              <a:latin typeface="Roboto Light"/>
              <a:ea typeface="Roboto Light"/>
              <a:cs typeface="Roboto Light"/>
              <a:sym typeface="Roboto Light"/>
            </a:endParaRPr>
          </a:p>
        </p:txBody>
      </p:sp>
      <p:pic>
        <p:nvPicPr>
          <p:cNvPr id="185" name="Google Shape;185;p29"/>
          <p:cNvPicPr preferRelativeResize="0"/>
          <p:nvPr/>
        </p:nvPicPr>
        <p:blipFill>
          <a:blip r:embed="rId4">
            <a:alphaModFix/>
          </a:blip>
          <a:stretch>
            <a:fillRect/>
          </a:stretch>
        </p:blipFill>
        <p:spPr>
          <a:xfrm>
            <a:off x="3380525" y="3627550"/>
            <a:ext cx="604550" cy="604550"/>
          </a:xfrm>
          <a:prstGeom prst="rect">
            <a:avLst/>
          </a:prstGeom>
          <a:noFill/>
          <a:ln>
            <a:noFill/>
          </a:ln>
        </p:spPr>
      </p:pic>
      <p:sp>
        <p:nvSpPr>
          <p:cNvPr id="186" name="Google Shape;186;p29"/>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5">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p:nvPr/>
        </p:nvSpPr>
        <p:spPr>
          <a:xfrm>
            <a:off x="1549600" y="863188"/>
            <a:ext cx="5832600" cy="387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class User</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void CreatePost(Database db, string postMessage)</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try</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db.Add(postMessage);</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catch (Exception ex)</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db.LogError("An error occured: ", ex.ToString());</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File.WriteAllText("\LocalErrors.txt", ex.ToString());</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    }</a:t>
            </a:r>
            <a:endParaRPr sz="1500">
              <a:solidFill>
                <a:srgbClr val="434343"/>
              </a:solidFill>
              <a:latin typeface="Roboto Light"/>
              <a:ea typeface="Roboto Light"/>
              <a:cs typeface="Roboto Light"/>
              <a:sym typeface="Roboto Light"/>
            </a:endParaRPr>
          </a:p>
          <a:p>
            <a:pPr indent="0" lvl="0" marL="0" marR="0" rtl="0" algn="l">
              <a:spcBef>
                <a:spcPts val="0"/>
              </a:spcBef>
              <a:spcAft>
                <a:spcPts val="0"/>
              </a:spcAft>
              <a:buNone/>
            </a:pPr>
            <a:r>
              <a:rPr lang="en" sz="1500">
                <a:solidFill>
                  <a:srgbClr val="434343"/>
                </a:solidFill>
                <a:latin typeface="Roboto Light"/>
                <a:ea typeface="Roboto Light"/>
                <a:cs typeface="Roboto Light"/>
                <a:sym typeface="Roboto Light"/>
              </a:rPr>
              <a:t>}</a:t>
            </a:r>
            <a:endParaRPr sz="1500">
              <a:solidFill>
                <a:srgbClr val="434343"/>
              </a:solidFill>
              <a:latin typeface="Roboto Light"/>
              <a:ea typeface="Roboto Light"/>
              <a:cs typeface="Roboto Light"/>
              <a:sym typeface="Roboto Light"/>
            </a:endParaRPr>
          </a:p>
        </p:txBody>
      </p:sp>
      <p:sp>
        <p:nvSpPr>
          <p:cNvPr id="193" name="Google Shape;193;p30"/>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SRP (Cont’d)</a:t>
            </a:r>
            <a:endParaRPr sz="3500">
              <a:latin typeface="Roboto Light"/>
              <a:ea typeface="Roboto Light"/>
              <a:cs typeface="Roboto Light"/>
              <a:sym typeface="Roboto Light"/>
            </a:endParaRPr>
          </a:p>
        </p:txBody>
      </p:sp>
      <p:sp>
        <p:nvSpPr>
          <p:cNvPr id="194" name="Google Shape;194;p30"/>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p:nvPr/>
        </p:nvSpPr>
        <p:spPr>
          <a:xfrm>
            <a:off x="0" y="771257"/>
            <a:ext cx="6477000" cy="413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class </a:t>
            </a:r>
            <a:r>
              <a:rPr b="1" lang="en" sz="1200">
                <a:solidFill>
                  <a:srgbClr val="974806"/>
                </a:solidFill>
                <a:latin typeface="Courier New"/>
                <a:ea typeface="Courier New"/>
                <a:cs typeface="Courier New"/>
                <a:sym typeface="Courier New"/>
              </a:rPr>
              <a:t>User</a:t>
            </a:r>
            <a:endParaRPr b="1"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private ErrorLogger errorLogger = new ErrorLogger();</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void CreatePost(Database db, string postMessage)</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try</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db.Add(postMessage);</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catch (Exception ex)</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errorLogger.Log(ex.ToString());</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974806"/>
                </a:solidFill>
                <a:latin typeface="Courier New"/>
                <a:ea typeface="Courier New"/>
                <a:cs typeface="Courier New"/>
                <a:sym typeface="Courier New"/>
              </a:rPr>
              <a:t>}</a:t>
            </a:r>
            <a:endParaRPr sz="1200">
              <a:latin typeface="Courier New"/>
              <a:ea typeface="Courier New"/>
              <a:cs typeface="Courier New"/>
              <a:sym typeface="Courier New"/>
            </a:endParaRPr>
          </a:p>
          <a:p>
            <a:pPr indent="0" lvl="0" marL="0" marR="0" rtl="0" algn="l">
              <a:spcBef>
                <a:spcPts val="0"/>
              </a:spcBef>
              <a:spcAft>
                <a:spcPts val="0"/>
              </a:spcAft>
              <a:buNone/>
            </a:pPr>
            <a:r>
              <a:t/>
            </a:r>
            <a:endParaRPr sz="1200">
              <a:solidFill>
                <a:srgbClr val="974806"/>
              </a:solidFill>
              <a:latin typeface="Courier New"/>
              <a:ea typeface="Courier New"/>
              <a:cs typeface="Courier New"/>
              <a:sym typeface="Courier New"/>
            </a:endParaRPr>
          </a:p>
        </p:txBody>
      </p:sp>
      <p:sp>
        <p:nvSpPr>
          <p:cNvPr id="201" name="Google Shape;201;p31"/>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SRP (Cont’d)</a:t>
            </a:r>
            <a:endParaRPr sz="3500">
              <a:latin typeface="Roboto Light"/>
              <a:ea typeface="Roboto Light"/>
              <a:cs typeface="Roboto Light"/>
              <a:sym typeface="Roboto Light"/>
            </a:endParaRPr>
          </a:p>
        </p:txBody>
      </p:sp>
      <p:sp>
        <p:nvSpPr>
          <p:cNvPr id="202" name="Google Shape;202;p31"/>
          <p:cNvSpPr/>
          <p:nvPr/>
        </p:nvSpPr>
        <p:spPr>
          <a:xfrm>
            <a:off x="4191000" y="2648900"/>
            <a:ext cx="4953000" cy="193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class </a:t>
            </a:r>
            <a:r>
              <a:rPr b="1" lang="en" sz="1200">
                <a:solidFill>
                  <a:srgbClr val="366092"/>
                </a:solidFill>
                <a:latin typeface="Courier New"/>
                <a:ea typeface="Courier New"/>
                <a:cs typeface="Courier New"/>
                <a:sym typeface="Courier New"/>
              </a:rPr>
              <a:t>ErrorLogger</a:t>
            </a:r>
            <a:endParaRPr b="1" sz="1200">
              <a:solidFill>
                <a:srgbClr val="366092"/>
              </a:solidFill>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    void Log(Database db, string error)</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      db.LogError("An error occured: ", error);</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      File.WriteAllText("\LocalErrors.txt", error);</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    }</a:t>
            </a:r>
            <a:endParaRPr sz="1200">
              <a:latin typeface="Courier New"/>
              <a:ea typeface="Courier New"/>
              <a:cs typeface="Courier New"/>
              <a:sym typeface="Courier New"/>
            </a:endParaRPr>
          </a:p>
          <a:p>
            <a:pPr indent="0" lvl="0" marL="0" marR="0" rtl="0" algn="l">
              <a:spcBef>
                <a:spcPts val="0"/>
              </a:spcBef>
              <a:spcAft>
                <a:spcPts val="0"/>
              </a:spcAft>
              <a:buNone/>
            </a:pPr>
            <a:r>
              <a:rPr lang="en" sz="1200">
                <a:solidFill>
                  <a:srgbClr val="366092"/>
                </a:solidFill>
                <a:latin typeface="Courier New"/>
                <a:ea typeface="Courier New"/>
                <a:cs typeface="Courier New"/>
                <a:sym typeface="Courier New"/>
              </a:rPr>
              <a:t>}</a:t>
            </a:r>
            <a:endParaRPr sz="1200">
              <a:latin typeface="Courier New"/>
              <a:ea typeface="Courier New"/>
              <a:cs typeface="Courier New"/>
              <a:sym typeface="Courier New"/>
            </a:endParaRPr>
          </a:p>
        </p:txBody>
      </p:sp>
      <p:cxnSp>
        <p:nvCxnSpPr>
          <p:cNvPr id="203" name="Google Shape;203;p31"/>
          <p:cNvCxnSpPr/>
          <p:nvPr/>
        </p:nvCxnSpPr>
        <p:spPr>
          <a:xfrm>
            <a:off x="4191000" y="1714500"/>
            <a:ext cx="0" cy="3086100"/>
          </a:xfrm>
          <a:prstGeom prst="straightConnector1">
            <a:avLst/>
          </a:prstGeom>
          <a:noFill/>
          <a:ln cap="flat" cmpd="sng" w="9525">
            <a:solidFill>
              <a:srgbClr val="7030A0"/>
            </a:solidFill>
            <a:prstDash val="solid"/>
            <a:round/>
            <a:headEnd len="sm" w="sm" type="none"/>
            <a:tailEnd len="sm" w="sm" type="none"/>
          </a:ln>
        </p:spPr>
      </p:cxnSp>
      <p:cxnSp>
        <p:nvCxnSpPr>
          <p:cNvPr id="204" name="Google Shape;204;p31"/>
          <p:cNvCxnSpPr/>
          <p:nvPr/>
        </p:nvCxnSpPr>
        <p:spPr>
          <a:xfrm>
            <a:off x="4114800" y="1714500"/>
            <a:ext cx="0" cy="3086100"/>
          </a:xfrm>
          <a:prstGeom prst="straightConnector1">
            <a:avLst/>
          </a:prstGeom>
          <a:noFill/>
          <a:ln cap="flat" cmpd="sng" w="9525">
            <a:solidFill>
              <a:srgbClr val="7030A0"/>
            </a:solidFill>
            <a:prstDash val="solid"/>
            <a:round/>
            <a:headEnd len="sm" w="sm" type="none"/>
            <a:tailEnd len="sm" w="sm" type="none"/>
          </a:ln>
        </p:spPr>
      </p:cxnSp>
      <p:sp>
        <p:nvSpPr>
          <p:cNvPr id="205" name="Google Shape;205;p31"/>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Practice 17: Applying SRP</a:t>
            </a:r>
            <a:endParaRPr sz="3500">
              <a:latin typeface="Roboto Light"/>
              <a:ea typeface="Roboto Light"/>
              <a:cs typeface="Roboto Light"/>
              <a:sym typeface="Roboto Light"/>
            </a:endParaRPr>
          </a:p>
        </p:txBody>
      </p:sp>
      <p:sp>
        <p:nvSpPr>
          <p:cNvPr id="212" name="Google Shape;212;p32"/>
          <p:cNvSpPr txBox="1"/>
          <p:nvPr/>
        </p:nvSpPr>
        <p:spPr>
          <a:xfrm>
            <a:off x="498225" y="1619100"/>
            <a:ext cx="5936700" cy="223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latin typeface="Roboto Light"/>
                <a:ea typeface="Roboto Light"/>
                <a:cs typeface="Roboto Light"/>
                <a:sym typeface="Roboto Light"/>
              </a:rPr>
              <a:t>In the provided code, the OnDemandAgentService class violates the Single Responsibility Principle (SRP) by handling </a:t>
            </a:r>
            <a:r>
              <a:rPr b="1" lang="en" sz="1900">
                <a:solidFill>
                  <a:schemeClr val="dk1"/>
                </a:solidFill>
                <a:latin typeface="Roboto"/>
                <a:ea typeface="Roboto"/>
                <a:cs typeface="Roboto"/>
                <a:sym typeface="Roboto"/>
              </a:rPr>
              <a:t>multiple responsibilities</a:t>
            </a:r>
            <a:r>
              <a:rPr lang="en" sz="1900">
                <a:solidFill>
                  <a:schemeClr val="dk1"/>
                </a:solidFill>
                <a:latin typeface="Roboto Light"/>
                <a:ea typeface="Roboto Light"/>
                <a:cs typeface="Roboto Light"/>
                <a:sym typeface="Roboto Light"/>
              </a:rPr>
              <a:t>.</a:t>
            </a:r>
            <a:endParaRPr sz="19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900">
              <a:solidFill>
                <a:schemeClr val="dk1"/>
              </a:solidFill>
              <a:latin typeface="Roboto Light"/>
              <a:ea typeface="Roboto Light"/>
              <a:cs typeface="Roboto Light"/>
              <a:sym typeface="Roboto Light"/>
            </a:endParaRPr>
          </a:p>
          <a:p>
            <a:pPr indent="0" lvl="0" marL="0" rtl="0" algn="l">
              <a:spcBef>
                <a:spcPts val="0"/>
              </a:spcBef>
              <a:spcAft>
                <a:spcPts val="0"/>
              </a:spcAft>
              <a:buNone/>
            </a:pPr>
            <a:r>
              <a:rPr lang="en" sz="1900">
                <a:solidFill>
                  <a:schemeClr val="dk1"/>
                </a:solidFill>
                <a:latin typeface="Roboto Light"/>
                <a:ea typeface="Roboto Light"/>
                <a:cs typeface="Roboto Light"/>
                <a:sym typeface="Roboto Light"/>
              </a:rPr>
              <a:t>By refactoring, please ensure that each class is focused on a single responsibility, making the system more maintainable, testable, and scalable.</a:t>
            </a:r>
            <a:endParaRPr sz="1900">
              <a:solidFill>
                <a:schemeClr val="dk1"/>
              </a:solidFill>
              <a:latin typeface="Roboto Light"/>
              <a:ea typeface="Roboto Light"/>
              <a:cs typeface="Roboto Light"/>
              <a:sym typeface="Roboto Light"/>
            </a:endParaRPr>
          </a:p>
        </p:txBody>
      </p:sp>
      <p:sp>
        <p:nvSpPr>
          <p:cNvPr id="213" name="Google Shape;213;p32">
            <a:hlinkClick r:id="rId3"/>
          </p:cNvPr>
          <p:cNvSpPr txBox="1"/>
          <p:nvPr/>
        </p:nvSpPr>
        <p:spPr>
          <a:xfrm>
            <a:off x="6954950" y="2438025"/>
            <a:ext cx="16899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Code link</a:t>
            </a:r>
            <a:endParaRPr sz="1800">
              <a:solidFill>
                <a:schemeClr val="dk2"/>
              </a:solidFill>
            </a:endParaRPr>
          </a:p>
        </p:txBody>
      </p:sp>
      <p:sp>
        <p:nvSpPr>
          <p:cNvPr id="214" name="Google Shape;214;p32"/>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idx="1" type="body"/>
          </p:nvPr>
        </p:nvSpPr>
        <p:spPr>
          <a:xfrm>
            <a:off x="610650" y="1994075"/>
            <a:ext cx="3632700" cy="1416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None/>
            </a:pPr>
            <a:r>
              <a:rPr lang="en" sz="2500">
                <a:latin typeface="Roboto Light"/>
                <a:ea typeface="Roboto Light"/>
                <a:cs typeface="Roboto Light"/>
                <a:sym typeface="Roboto Light"/>
              </a:rPr>
              <a:t>A module should be open for extension but closed for modification</a:t>
            </a:r>
            <a:endParaRPr sz="2500">
              <a:latin typeface="Roboto Light"/>
              <a:ea typeface="Roboto Light"/>
              <a:cs typeface="Roboto Light"/>
              <a:sym typeface="Roboto Light"/>
            </a:endParaRPr>
          </a:p>
        </p:txBody>
      </p:sp>
      <p:pic>
        <p:nvPicPr>
          <p:cNvPr id="220" name="Google Shape;220;p33"/>
          <p:cNvPicPr preferRelativeResize="0"/>
          <p:nvPr/>
        </p:nvPicPr>
        <p:blipFill rotWithShape="1">
          <a:blip r:embed="rId3">
            <a:alphaModFix/>
          </a:blip>
          <a:srcRect b="0" l="0" r="0" t="0"/>
          <a:stretch/>
        </p:blipFill>
        <p:spPr>
          <a:xfrm>
            <a:off x="5316497" y="1182650"/>
            <a:ext cx="3632554" cy="3039750"/>
          </a:xfrm>
          <a:prstGeom prst="rect">
            <a:avLst/>
          </a:prstGeom>
          <a:noFill/>
          <a:ln>
            <a:noFill/>
          </a:ln>
        </p:spPr>
      </p:pic>
      <p:sp>
        <p:nvSpPr>
          <p:cNvPr id="221" name="Google Shape;221;p33"/>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Open Closed Principle (OCP)</a:t>
            </a:r>
            <a:endParaRPr sz="3500">
              <a:latin typeface="Roboto Light"/>
              <a:ea typeface="Roboto Light"/>
              <a:cs typeface="Roboto Light"/>
              <a:sym typeface="Roboto Light"/>
            </a:endParaRPr>
          </a:p>
        </p:txBody>
      </p:sp>
      <p:sp>
        <p:nvSpPr>
          <p:cNvPr id="222" name="Google Shape;222;p33"/>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4"/>
          <p:cNvPicPr preferRelativeResize="0"/>
          <p:nvPr/>
        </p:nvPicPr>
        <p:blipFill rotWithShape="1">
          <a:blip r:embed="rId3">
            <a:alphaModFix/>
          </a:blip>
          <a:srcRect b="0" l="0" r="0" t="0"/>
          <a:stretch/>
        </p:blipFill>
        <p:spPr>
          <a:xfrm>
            <a:off x="2874074" y="760810"/>
            <a:ext cx="5220751" cy="3903250"/>
          </a:xfrm>
          <a:prstGeom prst="rect">
            <a:avLst/>
          </a:prstGeom>
          <a:noFill/>
          <a:ln>
            <a:noFill/>
          </a:ln>
        </p:spPr>
      </p:pic>
      <p:sp>
        <p:nvSpPr>
          <p:cNvPr id="228" name="Google Shape;228;p34"/>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OCP (Cont’d)</a:t>
            </a:r>
            <a:endParaRPr sz="3500">
              <a:latin typeface="Roboto Light"/>
              <a:ea typeface="Roboto Light"/>
              <a:cs typeface="Roboto Light"/>
              <a:sym typeface="Roboto Light"/>
            </a:endParaRPr>
          </a:p>
        </p:txBody>
      </p:sp>
      <p:sp>
        <p:nvSpPr>
          <p:cNvPr id="229" name="Google Shape;229;p34"/>
          <p:cNvSpPr txBox="1"/>
          <p:nvPr/>
        </p:nvSpPr>
        <p:spPr>
          <a:xfrm>
            <a:off x="818025" y="2498813"/>
            <a:ext cx="16848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C00000"/>
                </a:solidFill>
                <a:latin typeface="Roboto Light"/>
                <a:ea typeface="Roboto Light"/>
                <a:cs typeface="Roboto Light"/>
                <a:sym typeface="Roboto Light"/>
              </a:rPr>
              <a:t>OCP violation</a:t>
            </a:r>
            <a:endParaRPr>
              <a:solidFill>
                <a:srgbClr val="C00000"/>
              </a:solidFill>
              <a:latin typeface="Roboto Light"/>
              <a:ea typeface="Roboto Light"/>
              <a:cs typeface="Roboto Light"/>
              <a:sym typeface="Roboto Light"/>
            </a:endParaRPr>
          </a:p>
        </p:txBody>
      </p:sp>
      <p:sp>
        <p:nvSpPr>
          <p:cNvPr id="230" name="Google Shape;230;p34"/>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5"/>
          <p:cNvPicPr preferRelativeResize="0"/>
          <p:nvPr/>
        </p:nvPicPr>
        <p:blipFill rotWithShape="1">
          <a:blip r:embed="rId3">
            <a:alphaModFix/>
          </a:blip>
          <a:srcRect b="0" l="0" r="0" t="0"/>
          <a:stretch/>
        </p:blipFill>
        <p:spPr>
          <a:xfrm>
            <a:off x="975875" y="1059025"/>
            <a:ext cx="7390300" cy="3486125"/>
          </a:xfrm>
          <a:prstGeom prst="rect">
            <a:avLst/>
          </a:prstGeom>
          <a:noFill/>
          <a:ln>
            <a:noFill/>
          </a:ln>
        </p:spPr>
      </p:pic>
      <p:sp>
        <p:nvSpPr>
          <p:cNvPr id="236" name="Google Shape;236;p35"/>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OCP (Cont’d)</a:t>
            </a:r>
            <a:endParaRPr sz="3500">
              <a:latin typeface="Roboto Light"/>
              <a:ea typeface="Roboto Light"/>
              <a:cs typeface="Roboto Light"/>
              <a:sym typeface="Roboto Light"/>
            </a:endParaRPr>
          </a:p>
        </p:txBody>
      </p:sp>
      <p:pic>
        <p:nvPicPr>
          <p:cNvPr id="237" name="Google Shape;237;p35"/>
          <p:cNvPicPr preferRelativeResize="0"/>
          <p:nvPr/>
        </p:nvPicPr>
        <p:blipFill>
          <a:blip r:embed="rId4">
            <a:alphaModFix/>
          </a:blip>
          <a:stretch>
            <a:fillRect/>
          </a:stretch>
        </p:blipFill>
        <p:spPr>
          <a:xfrm>
            <a:off x="6986275" y="2012300"/>
            <a:ext cx="604550" cy="604550"/>
          </a:xfrm>
          <a:prstGeom prst="rect">
            <a:avLst/>
          </a:prstGeom>
          <a:noFill/>
          <a:ln>
            <a:noFill/>
          </a:ln>
        </p:spPr>
      </p:pic>
      <p:sp>
        <p:nvSpPr>
          <p:cNvPr id="238" name="Google Shape;238;p35"/>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5">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idx="1" type="body"/>
          </p:nvPr>
        </p:nvSpPr>
        <p:spPr>
          <a:xfrm>
            <a:off x="512900" y="2056650"/>
            <a:ext cx="4191000" cy="1575600"/>
          </a:xfrm>
          <a:prstGeom prst="rect">
            <a:avLst/>
          </a:prstGeom>
          <a:noFill/>
          <a:ln>
            <a:noFill/>
          </a:ln>
        </p:spPr>
        <p:txBody>
          <a:bodyPr anchorCtr="0" anchor="t" bIns="45700" lIns="91425" spcFirstLastPara="1" rIns="91425" wrap="square" tIns="45700">
            <a:noAutofit/>
          </a:bodyPr>
          <a:lstStyle/>
          <a:p>
            <a:pPr indent="0" lvl="0" marL="342900" rtl="0" algn="l">
              <a:spcBef>
                <a:spcPts val="0"/>
              </a:spcBef>
              <a:spcAft>
                <a:spcPts val="1200"/>
              </a:spcAft>
              <a:buNone/>
            </a:pPr>
            <a:r>
              <a:rPr lang="en" sz="2300">
                <a:latin typeface="Roboto Light"/>
                <a:ea typeface="Roboto Light"/>
                <a:cs typeface="Roboto Light"/>
                <a:sym typeface="Roboto Light"/>
              </a:rPr>
              <a:t>Subclasses should be substitutable for their base classes.</a:t>
            </a:r>
            <a:endParaRPr sz="2300">
              <a:latin typeface="Roboto Light"/>
              <a:ea typeface="Roboto Light"/>
              <a:cs typeface="Roboto Light"/>
              <a:sym typeface="Roboto Light"/>
            </a:endParaRPr>
          </a:p>
        </p:txBody>
      </p:sp>
      <p:sp>
        <p:nvSpPr>
          <p:cNvPr id="244" name="Google Shape;244;p36"/>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Liskov Substitution Principle (LSP)</a:t>
            </a:r>
            <a:endParaRPr sz="3500">
              <a:latin typeface="Roboto Light"/>
              <a:ea typeface="Roboto Light"/>
              <a:cs typeface="Roboto Light"/>
              <a:sym typeface="Roboto Light"/>
            </a:endParaRPr>
          </a:p>
        </p:txBody>
      </p:sp>
      <p:pic>
        <p:nvPicPr>
          <p:cNvPr id="245" name="Google Shape;245;p36"/>
          <p:cNvPicPr preferRelativeResize="0"/>
          <p:nvPr/>
        </p:nvPicPr>
        <p:blipFill>
          <a:blip r:embed="rId3">
            <a:alphaModFix/>
          </a:blip>
          <a:stretch>
            <a:fillRect/>
          </a:stretch>
        </p:blipFill>
        <p:spPr>
          <a:xfrm>
            <a:off x="5008700" y="1662863"/>
            <a:ext cx="4135301" cy="1817775"/>
          </a:xfrm>
          <a:prstGeom prst="rect">
            <a:avLst/>
          </a:prstGeom>
          <a:noFill/>
          <a:ln>
            <a:noFill/>
          </a:ln>
        </p:spPr>
      </p:pic>
      <p:sp>
        <p:nvSpPr>
          <p:cNvPr id="246" name="Google Shape;246;p36"/>
          <p:cNvSpPr txBox="1"/>
          <p:nvPr/>
        </p:nvSpPr>
        <p:spPr>
          <a:xfrm>
            <a:off x="6314355" y="3373976"/>
            <a:ext cx="152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rgbClr val="C00000"/>
                </a:solidFill>
                <a:latin typeface="Calibri"/>
                <a:ea typeface="Calibri"/>
                <a:cs typeface="Calibri"/>
                <a:sym typeface="Calibri"/>
              </a:rPr>
              <a:t>LS</a:t>
            </a:r>
            <a:r>
              <a:rPr lang="en" sz="1800">
                <a:solidFill>
                  <a:srgbClr val="C00000"/>
                </a:solidFill>
                <a:latin typeface="Calibri"/>
                <a:ea typeface="Calibri"/>
                <a:cs typeface="Calibri"/>
                <a:sym typeface="Calibri"/>
              </a:rPr>
              <a:t>P Violation</a:t>
            </a:r>
            <a:endParaRPr/>
          </a:p>
        </p:txBody>
      </p:sp>
      <p:sp>
        <p:nvSpPr>
          <p:cNvPr id="247" name="Google Shape;247;p36"/>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cxnSp>
        <p:nvCxnSpPr>
          <p:cNvPr id="248" name="Google Shape;248;p36"/>
          <p:cNvCxnSpPr/>
          <p:nvPr/>
        </p:nvCxnSpPr>
        <p:spPr>
          <a:xfrm flipH="1">
            <a:off x="7618950" y="2249875"/>
            <a:ext cx="105900" cy="182700"/>
          </a:xfrm>
          <a:prstGeom prst="straightConnector1">
            <a:avLst/>
          </a:prstGeom>
          <a:noFill/>
          <a:ln cap="flat" cmpd="sng" w="9525">
            <a:solidFill>
              <a:srgbClr val="C00000"/>
            </a:solidFill>
            <a:prstDash val="solid"/>
            <a:round/>
            <a:headEnd len="med" w="med" type="none"/>
            <a:tailEnd len="med" w="med" type="none"/>
          </a:ln>
        </p:spPr>
      </p:cxnSp>
      <p:cxnSp>
        <p:nvCxnSpPr>
          <p:cNvPr id="249" name="Google Shape;249;p36"/>
          <p:cNvCxnSpPr/>
          <p:nvPr/>
        </p:nvCxnSpPr>
        <p:spPr>
          <a:xfrm>
            <a:off x="7614150" y="2273875"/>
            <a:ext cx="115500" cy="134700"/>
          </a:xfrm>
          <a:prstGeom prst="straightConnector1">
            <a:avLst/>
          </a:prstGeom>
          <a:noFill/>
          <a:ln cap="flat" cmpd="sng" w="9525">
            <a:solidFill>
              <a:srgbClr val="C00000"/>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37"/>
          <p:cNvPicPr preferRelativeResize="0"/>
          <p:nvPr/>
        </p:nvPicPr>
        <p:blipFill rotWithShape="1">
          <a:blip r:embed="rId3">
            <a:alphaModFix/>
          </a:blip>
          <a:srcRect b="0" l="0" r="0" t="0"/>
          <a:stretch/>
        </p:blipFill>
        <p:spPr>
          <a:xfrm>
            <a:off x="2202363" y="1303100"/>
            <a:ext cx="4739275" cy="2849050"/>
          </a:xfrm>
          <a:prstGeom prst="rect">
            <a:avLst/>
          </a:prstGeom>
          <a:noFill/>
          <a:ln>
            <a:noFill/>
          </a:ln>
        </p:spPr>
      </p:pic>
      <p:sp>
        <p:nvSpPr>
          <p:cNvPr id="255" name="Google Shape;255;p37"/>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LSP (Cont’d)</a:t>
            </a:r>
            <a:endParaRPr sz="3500">
              <a:latin typeface="Roboto Light"/>
              <a:ea typeface="Roboto Light"/>
              <a:cs typeface="Roboto Light"/>
              <a:sym typeface="Roboto Light"/>
            </a:endParaRPr>
          </a:p>
        </p:txBody>
      </p:sp>
      <p:sp>
        <p:nvSpPr>
          <p:cNvPr id="256" name="Google Shape;256;p37"/>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idx="1" type="body"/>
          </p:nvPr>
        </p:nvSpPr>
        <p:spPr>
          <a:xfrm>
            <a:off x="485075" y="1984550"/>
            <a:ext cx="4269600" cy="1452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1200"/>
              </a:spcAft>
              <a:buClr>
                <a:schemeClr val="dk1"/>
              </a:buClr>
              <a:buSzPts val="2000"/>
              <a:buNone/>
            </a:pPr>
            <a:r>
              <a:rPr lang="en" sz="2400">
                <a:latin typeface="Roboto Light"/>
                <a:ea typeface="Roboto Light"/>
                <a:cs typeface="Roboto Light"/>
                <a:sym typeface="Roboto Light"/>
              </a:rPr>
              <a:t>Many client specific interfaces are better than one general purpose interface</a:t>
            </a:r>
            <a:endParaRPr sz="2400">
              <a:latin typeface="Roboto Light"/>
              <a:ea typeface="Roboto Light"/>
              <a:cs typeface="Roboto Light"/>
              <a:sym typeface="Roboto Light"/>
            </a:endParaRPr>
          </a:p>
        </p:txBody>
      </p:sp>
      <p:sp>
        <p:nvSpPr>
          <p:cNvPr id="262" name="Google Shape;262;p38"/>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Interface Segregation Principle (ISP)</a:t>
            </a:r>
            <a:endParaRPr sz="3500">
              <a:latin typeface="Roboto Light"/>
              <a:ea typeface="Roboto Light"/>
              <a:cs typeface="Roboto Light"/>
              <a:sym typeface="Roboto Light"/>
            </a:endParaRPr>
          </a:p>
        </p:txBody>
      </p:sp>
      <p:pic>
        <p:nvPicPr>
          <p:cNvPr id="263" name="Google Shape;263;p38"/>
          <p:cNvPicPr preferRelativeResize="0"/>
          <p:nvPr/>
        </p:nvPicPr>
        <p:blipFill rotWithShape="1">
          <a:blip r:embed="rId3">
            <a:alphaModFix/>
          </a:blip>
          <a:srcRect b="0" l="11887" r="15051" t="0"/>
          <a:stretch/>
        </p:blipFill>
        <p:spPr>
          <a:xfrm>
            <a:off x="4899300" y="1607150"/>
            <a:ext cx="4018024" cy="2361250"/>
          </a:xfrm>
          <a:prstGeom prst="rect">
            <a:avLst/>
          </a:prstGeom>
          <a:noFill/>
          <a:ln>
            <a:noFill/>
          </a:ln>
        </p:spPr>
      </p:pic>
      <p:sp>
        <p:nvSpPr>
          <p:cNvPr id="264" name="Google Shape;264;p38"/>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39"/>
          <p:cNvPicPr preferRelativeResize="0"/>
          <p:nvPr/>
        </p:nvPicPr>
        <p:blipFill rotWithShape="1">
          <a:blip r:embed="rId3">
            <a:alphaModFix/>
          </a:blip>
          <a:srcRect b="0" l="0" r="0" t="0"/>
          <a:stretch/>
        </p:blipFill>
        <p:spPr>
          <a:xfrm>
            <a:off x="657300" y="1338375"/>
            <a:ext cx="7829400" cy="2596750"/>
          </a:xfrm>
          <a:prstGeom prst="rect">
            <a:avLst/>
          </a:prstGeom>
          <a:noFill/>
          <a:ln>
            <a:noFill/>
          </a:ln>
        </p:spPr>
      </p:pic>
      <p:sp>
        <p:nvSpPr>
          <p:cNvPr id="270" name="Google Shape;270;p39"/>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lnSpcReduction="10000"/>
          </a:bodyPr>
          <a:lstStyle/>
          <a:p>
            <a:pPr indent="0" lvl="0" marL="0" marR="0" rtl="0" algn="ctr">
              <a:spcBef>
                <a:spcPts val="0"/>
              </a:spcBef>
              <a:spcAft>
                <a:spcPts val="0"/>
              </a:spcAft>
              <a:buClr>
                <a:schemeClr val="lt1"/>
              </a:buClr>
              <a:buSzPts val="4400"/>
              <a:buFont typeface="Calibri"/>
              <a:buNone/>
            </a:pPr>
            <a:r>
              <a:rPr lang="en" sz="4400">
                <a:solidFill>
                  <a:schemeClr val="lt1"/>
                </a:solidFill>
                <a:latin typeface="Calibri"/>
                <a:ea typeface="Calibri"/>
                <a:cs typeface="Calibri"/>
                <a:sym typeface="Calibri"/>
              </a:rPr>
              <a:t>ISP (Cont’d)</a:t>
            </a:r>
            <a:endParaRPr/>
          </a:p>
        </p:txBody>
      </p:sp>
      <p:sp>
        <p:nvSpPr>
          <p:cNvPr id="271" name="Google Shape;271;p39"/>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0"/>
          <p:cNvSpPr txBox="1"/>
          <p:nvPr>
            <p:ph idx="1" type="body"/>
          </p:nvPr>
        </p:nvSpPr>
        <p:spPr>
          <a:xfrm>
            <a:off x="465250" y="2071350"/>
            <a:ext cx="3621000" cy="100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1200"/>
              </a:spcAft>
              <a:buClr>
                <a:schemeClr val="dk1"/>
              </a:buClr>
              <a:buSzPts val="4000"/>
              <a:buNone/>
            </a:pPr>
            <a:r>
              <a:rPr lang="en" sz="2000">
                <a:latin typeface="Roboto Light"/>
                <a:ea typeface="Roboto Light"/>
                <a:cs typeface="Roboto Light"/>
                <a:sym typeface="Roboto Light"/>
              </a:rPr>
              <a:t>Depend upon Abstractions. Do not depend upon concretions</a:t>
            </a:r>
            <a:endParaRPr sz="2000">
              <a:latin typeface="Roboto Light"/>
              <a:ea typeface="Roboto Light"/>
              <a:cs typeface="Roboto Light"/>
              <a:sym typeface="Roboto Light"/>
            </a:endParaRPr>
          </a:p>
        </p:txBody>
      </p:sp>
      <p:sp>
        <p:nvSpPr>
          <p:cNvPr id="278" name="Google Shape;278;p40"/>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Dependency Inversion Principle (DIP)</a:t>
            </a:r>
            <a:endParaRPr sz="3500">
              <a:latin typeface="Roboto Light"/>
              <a:ea typeface="Roboto Light"/>
              <a:cs typeface="Roboto Light"/>
              <a:sym typeface="Roboto Light"/>
            </a:endParaRPr>
          </a:p>
        </p:txBody>
      </p:sp>
      <p:pic>
        <p:nvPicPr>
          <p:cNvPr id="279" name="Google Shape;279;p40"/>
          <p:cNvPicPr preferRelativeResize="0"/>
          <p:nvPr/>
        </p:nvPicPr>
        <p:blipFill>
          <a:blip r:embed="rId3">
            <a:alphaModFix/>
          </a:blip>
          <a:stretch>
            <a:fillRect/>
          </a:stretch>
        </p:blipFill>
        <p:spPr>
          <a:xfrm>
            <a:off x="4303975" y="1422551"/>
            <a:ext cx="4840026" cy="2521100"/>
          </a:xfrm>
          <a:prstGeom prst="rect">
            <a:avLst/>
          </a:prstGeom>
          <a:noFill/>
          <a:ln>
            <a:noFill/>
          </a:ln>
        </p:spPr>
      </p:pic>
      <p:sp>
        <p:nvSpPr>
          <p:cNvPr id="280" name="Google Shape;280;p40"/>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1"/>
          <p:cNvPicPr preferRelativeResize="0"/>
          <p:nvPr/>
        </p:nvPicPr>
        <p:blipFill rotWithShape="1">
          <a:blip r:embed="rId3">
            <a:alphaModFix/>
          </a:blip>
          <a:srcRect b="0" l="0" r="0" t="0"/>
          <a:stretch/>
        </p:blipFill>
        <p:spPr>
          <a:xfrm>
            <a:off x="1138088" y="1274000"/>
            <a:ext cx="6867825" cy="2830025"/>
          </a:xfrm>
          <a:prstGeom prst="rect">
            <a:avLst/>
          </a:prstGeom>
          <a:noFill/>
          <a:ln>
            <a:noFill/>
          </a:ln>
        </p:spPr>
      </p:pic>
      <p:sp>
        <p:nvSpPr>
          <p:cNvPr id="286" name="Google Shape;286;p41"/>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DIP (Cont’d)</a:t>
            </a:r>
            <a:endParaRPr sz="3500">
              <a:latin typeface="Roboto Light"/>
              <a:ea typeface="Roboto Light"/>
              <a:cs typeface="Roboto Light"/>
              <a:sym typeface="Roboto Light"/>
            </a:endParaRPr>
          </a:p>
        </p:txBody>
      </p:sp>
      <p:sp>
        <p:nvSpPr>
          <p:cNvPr id="287" name="Google Shape;287;p41"/>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Practice 18: Applying DIP </a:t>
            </a:r>
            <a:endParaRPr sz="3500">
              <a:latin typeface="Roboto Light"/>
              <a:ea typeface="Roboto Light"/>
              <a:cs typeface="Roboto Light"/>
              <a:sym typeface="Roboto Light"/>
            </a:endParaRPr>
          </a:p>
        </p:txBody>
      </p:sp>
      <p:sp>
        <p:nvSpPr>
          <p:cNvPr id="293" name="Google Shape;293;p42"/>
          <p:cNvSpPr txBox="1"/>
          <p:nvPr/>
        </p:nvSpPr>
        <p:spPr>
          <a:xfrm>
            <a:off x="477150" y="1155250"/>
            <a:ext cx="8189700" cy="2979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600">
                <a:latin typeface="Roboto"/>
                <a:ea typeface="Roboto"/>
                <a:cs typeface="Roboto"/>
                <a:sym typeface="Roboto"/>
              </a:rPr>
              <a:t>Payment Processing System</a:t>
            </a:r>
            <a:endParaRPr b="1" sz="1600">
              <a:latin typeface="Roboto"/>
              <a:ea typeface="Roboto"/>
              <a:cs typeface="Roboto"/>
              <a:sym typeface="Roboto"/>
            </a:endParaRPr>
          </a:p>
          <a:p>
            <a:pPr indent="0" lvl="0" marL="0" rtl="0" algn="ctr">
              <a:lnSpc>
                <a:spcPct val="115000"/>
              </a:lnSpc>
              <a:spcBef>
                <a:spcPts val="0"/>
              </a:spcBef>
              <a:spcAft>
                <a:spcPts val="0"/>
              </a:spcAft>
              <a:buNone/>
            </a:pPr>
            <a:r>
              <a:t/>
            </a:r>
            <a:endParaRPr b="1" sz="1600">
              <a:latin typeface="Roboto"/>
              <a:ea typeface="Roboto"/>
              <a:cs typeface="Roboto"/>
              <a:sym typeface="Roboto"/>
            </a:endParaRPr>
          </a:p>
          <a:p>
            <a:pPr indent="0" lvl="0" marL="0" rtl="0" algn="l">
              <a:lnSpc>
                <a:spcPct val="115000"/>
              </a:lnSpc>
              <a:spcBef>
                <a:spcPts val="0"/>
              </a:spcBef>
              <a:spcAft>
                <a:spcPts val="0"/>
              </a:spcAft>
              <a:buNone/>
            </a:pPr>
            <a:r>
              <a:rPr lang="en" sz="1600">
                <a:latin typeface="Roboto Light"/>
                <a:ea typeface="Roboto Light"/>
                <a:cs typeface="Roboto Light"/>
                <a:sym typeface="Roboto Light"/>
              </a:rPr>
              <a:t>I</a:t>
            </a:r>
            <a:r>
              <a:rPr lang="en" sz="1600">
                <a:latin typeface="Roboto Light"/>
                <a:ea typeface="Roboto Light"/>
                <a:cs typeface="Roboto Light"/>
                <a:sym typeface="Roboto Light"/>
              </a:rPr>
              <a:t>n today's digital commerce, customers use various payment methods to complete transactions. A well-designed payment processing system should handle different payment methods such as Credit Card, bKash, PayPal, and Bank Transfer, ensuring scalability to integrate future payment methods seamlessly.</a:t>
            </a:r>
            <a:endParaRPr sz="1600">
              <a:latin typeface="Roboto Light"/>
              <a:ea typeface="Roboto Light"/>
              <a:cs typeface="Roboto Light"/>
              <a:sym typeface="Roboto Light"/>
            </a:endParaRPr>
          </a:p>
          <a:p>
            <a:pPr indent="0" lvl="0" marL="0" rtl="0" algn="l">
              <a:lnSpc>
                <a:spcPct val="115000"/>
              </a:lnSpc>
              <a:spcBef>
                <a:spcPts val="0"/>
              </a:spcBef>
              <a:spcAft>
                <a:spcPts val="0"/>
              </a:spcAft>
              <a:buNone/>
            </a:pPr>
            <a:r>
              <a:t/>
            </a:r>
            <a:endParaRPr sz="1600">
              <a:latin typeface="Roboto Light"/>
              <a:ea typeface="Roboto Light"/>
              <a:cs typeface="Roboto Light"/>
              <a:sym typeface="Roboto Light"/>
            </a:endParaRPr>
          </a:p>
          <a:p>
            <a:pPr indent="0" lvl="0" marL="0" rtl="0" algn="l">
              <a:lnSpc>
                <a:spcPct val="115000"/>
              </a:lnSpc>
              <a:spcBef>
                <a:spcPts val="0"/>
              </a:spcBef>
              <a:spcAft>
                <a:spcPts val="0"/>
              </a:spcAft>
              <a:buNone/>
            </a:pPr>
            <a:r>
              <a:rPr lang="en" sz="1600">
                <a:latin typeface="Roboto Light"/>
                <a:ea typeface="Roboto Light"/>
                <a:cs typeface="Roboto Light"/>
                <a:sym typeface="Roboto Light"/>
              </a:rPr>
              <a:t>Your task is to design a system that adheres to the Dependency Inversion Principle (DIP), allowing the high-level PaymentService module to remain independent of specific payment method implementations.</a:t>
            </a:r>
            <a:endParaRPr sz="1600">
              <a:latin typeface="Roboto Light"/>
              <a:ea typeface="Roboto Light"/>
              <a:cs typeface="Roboto Light"/>
              <a:sym typeface="Roboto Light"/>
            </a:endParaRPr>
          </a:p>
        </p:txBody>
      </p:sp>
      <p:sp>
        <p:nvSpPr>
          <p:cNvPr id="294" name="Google Shape;294;p42"/>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3"/>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Tell Don’t Ask</a:t>
            </a:r>
            <a:endParaRPr sz="3500">
              <a:latin typeface="Roboto Light"/>
              <a:ea typeface="Roboto Light"/>
              <a:cs typeface="Roboto Light"/>
              <a:sym typeface="Roboto Light"/>
            </a:endParaRPr>
          </a:p>
        </p:txBody>
      </p:sp>
      <p:pic>
        <p:nvPicPr>
          <p:cNvPr id="300" name="Google Shape;300;p43"/>
          <p:cNvPicPr preferRelativeResize="0"/>
          <p:nvPr/>
        </p:nvPicPr>
        <p:blipFill>
          <a:blip r:embed="rId3">
            <a:alphaModFix/>
          </a:blip>
          <a:stretch>
            <a:fillRect/>
          </a:stretch>
        </p:blipFill>
        <p:spPr>
          <a:xfrm>
            <a:off x="976320" y="760800"/>
            <a:ext cx="7253281" cy="4082575"/>
          </a:xfrm>
          <a:prstGeom prst="rect">
            <a:avLst/>
          </a:prstGeom>
          <a:noFill/>
          <a:ln>
            <a:noFill/>
          </a:ln>
        </p:spPr>
      </p:pic>
      <p:sp>
        <p:nvSpPr>
          <p:cNvPr id="301" name="Google Shape;301;p43"/>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4"/>
          <p:cNvSpPr/>
          <p:nvPr/>
        </p:nvSpPr>
        <p:spPr>
          <a:xfrm>
            <a:off x="2222850" y="946450"/>
            <a:ext cx="4698300" cy="198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200">
                <a:solidFill>
                  <a:schemeClr val="dk1"/>
                </a:solidFill>
                <a:latin typeface="Courier New"/>
                <a:ea typeface="Courier New"/>
                <a:cs typeface="Courier New"/>
                <a:sym typeface="Courier New"/>
              </a:rPr>
              <a:t>if(getStateOfSomething())</a:t>
            </a:r>
            <a:endParaRPr sz="2200">
              <a:latin typeface="Courier New"/>
              <a:ea typeface="Courier New"/>
              <a:cs typeface="Courier New"/>
              <a:sym typeface="Courier New"/>
            </a:endParaRPr>
          </a:p>
          <a:p>
            <a:pPr indent="0" lvl="0" marL="0" marR="0" rtl="0" algn="l">
              <a:spcBef>
                <a:spcPts val="0"/>
              </a:spcBef>
              <a:spcAft>
                <a:spcPts val="0"/>
              </a:spcAft>
              <a:buNone/>
            </a:pPr>
            <a:r>
              <a:rPr lang="en" sz="2200">
                <a:solidFill>
                  <a:schemeClr val="dk1"/>
                </a:solidFill>
                <a:latin typeface="Courier New"/>
                <a:ea typeface="Courier New"/>
                <a:cs typeface="Courier New"/>
                <a:sym typeface="Courier New"/>
              </a:rPr>
              <a:t>   doThis();</a:t>
            </a:r>
            <a:endParaRPr sz="2200">
              <a:latin typeface="Courier New"/>
              <a:ea typeface="Courier New"/>
              <a:cs typeface="Courier New"/>
              <a:sym typeface="Courier New"/>
            </a:endParaRPr>
          </a:p>
          <a:p>
            <a:pPr indent="0" lvl="0" marL="0" marR="0" rtl="0" algn="l">
              <a:spcBef>
                <a:spcPts val="0"/>
              </a:spcBef>
              <a:spcAft>
                <a:spcPts val="0"/>
              </a:spcAft>
              <a:buNone/>
            </a:pPr>
            <a:r>
              <a:rPr lang="en" sz="2200">
                <a:solidFill>
                  <a:schemeClr val="dk1"/>
                </a:solidFill>
                <a:latin typeface="Courier New"/>
                <a:ea typeface="Courier New"/>
                <a:cs typeface="Courier New"/>
                <a:sym typeface="Courier New"/>
              </a:rPr>
              <a:t>else</a:t>
            </a:r>
            <a:endParaRPr sz="2200">
              <a:latin typeface="Courier New"/>
              <a:ea typeface="Courier New"/>
              <a:cs typeface="Courier New"/>
              <a:sym typeface="Courier New"/>
            </a:endParaRPr>
          </a:p>
          <a:p>
            <a:pPr indent="0" lvl="0" marL="0" marR="0" rtl="0" algn="l">
              <a:spcBef>
                <a:spcPts val="0"/>
              </a:spcBef>
              <a:spcAft>
                <a:spcPts val="0"/>
              </a:spcAft>
              <a:buNone/>
            </a:pPr>
            <a:r>
              <a:rPr lang="en" sz="2200">
                <a:solidFill>
                  <a:schemeClr val="dk1"/>
                </a:solidFill>
                <a:latin typeface="Courier New"/>
                <a:ea typeface="Courier New"/>
                <a:cs typeface="Courier New"/>
                <a:sym typeface="Courier New"/>
              </a:rPr>
              <a:t>   doThat();</a:t>
            </a:r>
            <a:endParaRPr sz="2200">
              <a:latin typeface="Courier New"/>
              <a:ea typeface="Courier New"/>
              <a:cs typeface="Courier New"/>
              <a:sym typeface="Courier New"/>
            </a:endParaRPr>
          </a:p>
        </p:txBody>
      </p:sp>
      <p:sp>
        <p:nvSpPr>
          <p:cNvPr id="307" name="Google Shape;307;p44"/>
          <p:cNvSpPr/>
          <p:nvPr/>
        </p:nvSpPr>
        <p:spPr>
          <a:xfrm>
            <a:off x="2139300" y="3863750"/>
            <a:ext cx="5459100" cy="630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200">
                <a:solidFill>
                  <a:schemeClr val="dk1"/>
                </a:solidFill>
                <a:latin typeface="Courier New"/>
                <a:ea typeface="Courier New"/>
                <a:cs typeface="Courier New"/>
                <a:sym typeface="Courier New"/>
              </a:rPr>
              <a:t>object.doSomethingForMe();</a:t>
            </a:r>
            <a:endParaRPr sz="2200">
              <a:latin typeface="Courier New"/>
              <a:ea typeface="Courier New"/>
              <a:cs typeface="Courier New"/>
              <a:sym typeface="Courier New"/>
            </a:endParaRPr>
          </a:p>
        </p:txBody>
      </p:sp>
      <p:sp>
        <p:nvSpPr>
          <p:cNvPr id="308" name="Google Shape;308;p44"/>
          <p:cNvSpPr txBox="1"/>
          <p:nvPr/>
        </p:nvSpPr>
        <p:spPr>
          <a:xfrm>
            <a:off x="4116797" y="2805875"/>
            <a:ext cx="10218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700">
                <a:solidFill>
                  <a:srgbClr val="FF0000"/>
                </a:solidFill>
                <a:latin typeface="Courier New"/>
                <a:ea typeface="Courier New"/>
                <a:cs typeface="Courier New"/>
                <a:sym typeface="Courier New"/>
              </a:rPr>
              <a:t>V/S</a:t>
            </a:r>
            <a:endParaRPr b="1" sz="1100">
              <a:solidFill>
                <a:srgbClr val="FF0000"/>
              </a:solidFill>
              <a:latin typeface="Courier New"/>
              <a:ea typeface="Courier New"/>
              <a:cs typeface="Courier New"/>
              <a:sym typeface="Courier New"/>
            </a:endParaRPr>
          </a:p>
        </p:txBody>
      </p:sp>
      <p:sp>
        <p:nvSpPr>
          <p:cNvPr id="309" name="Google Shape;309;p44"/>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Tell Don’t Ask (Cont’d)</a:t>
            </a:r>
            <a:endParaRPr sz="3500">
              <a:latin typeface="Roboto Light"/>
              <a:ea typeface="Roboto Light"/>
              <a:cs typeface="Roboto Light"/>
              <a:sym typeface="Roboto Light"/>
            </a:endParaRPr>
          </a:p>
        </p:txBody>
      </p:sp>
      <p:sp>
        <p:nvSpPr>
          <p:cNvPr id="310" name="Google Shape;310;p44"/>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5"/>
          <p:cNvSpPr txBox="1"/>
          <p:nvPr/>
        </p:nvSpPr>
        <p:spPr>
          <a:xfrm>
            <a:off x="6574950" y="2845600"/>
            <a:ext cx="2057400" cy="1200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i="0" lang="en" sz="1600" u="none" cap="none" strike="noStrike">
                <a:solidFill>
                  <a:schemeClr val="dk1"/>
                </a:solidFill>
                <a:latin typeface="Roboto Light"/>
                <a:ea typeface="Roboto Light"/>
                <a:cs typeface="Roboto Light"/>
                <a:sym typeface="Roboto Light"/>
              </a:rPr>
              <a:t>Once and only once</a:t>
            </a:r>
            <a:endParaRPr sz="1600">
              <a:latin typeface="Roboto Light"/>
              <a:ea typeface="Roboto Light"/>
              <a:cs typeface="Roboto Light"/>
              <a:sym typeface="Roboto Light"/>
            </a:endParaRPr>
          </a:p>
        </p:txBody>
      </p:sp>
      <p:sp>
        <p:nvSpPr>
          <p:cNvPr id="316" name="Google Shape;316;p45"/>
          <p:cNvSpPr/>
          <p:nvPr/>
        </p:nvSpPr>
        <p:spPr>
          <a:xfrm>
            <a:off x="578225" y="1035925"/>
            <a:ext cx="5448300" cy="14541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3000"/>
              <a:buFont typeface="Calibri"/>
              <a:buNone/>
            </a:pPr>
            <a:r>
              <a:rPr lang="en" sz="2500">
                <a:solidFill>
                  <a:schemeClr val="dk1"/>
                </a:solidFill>
                <a:latin typeface="Roboto Light"/>
                <a:ea typeface="Roboto Light"/>
                <a:cs typeface="Roboto Light"/>
                <a:sym typeface="Roboto Light"/>
              </a:rPr>
              <a:t>Every piece of knowledge must have a single, unambiguous, authoritative representation within a system</a:t>
            </a:r>
            <a:endParaRPr sz="900">
              <a:latin typeface="Roboto Light"/>
              <a:ea typeface="Roboto Light"/>
              <a:cs typeface="Roboto Light"/>
              <a:sym typeface="Roboto Light"/>
            </a:endParaRPr>
          </a:p>
        </p:txBody>
      </p:sp>
      <p:sp>
        <p:nvSpPr>
          <p:cNvPr id="317" name="Google Shape;317;p45"/>
          <p:cNvSpPr/>
          <p:nvPr/>
        </p:nvSpPr>
        <p:spPr>
          <a:xfrm>
            <a:off x="617575" y="2841200"/>
            <a:ext cx="5223300" cy="14541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 sz="2200">
                <a:solidFill>
                  <a:schemeClr val="dk1"/>
                </a:solidFill>
                <a:latin typeface="Roboto Light"/>
                <a:ea typeface="Roboto Light"/>
                <a:cs typeface="Roboto Light"/>
                <a:sym typeface="Roboto Light"/>
              </a:rPr>
              <a:t>Refactoring has as a primary objective getting each piece of functionality to exist in exactly one place in the software. –Ron Jeffries</a:t>
            </a:r>
            <a:endParaRPr sz="1300">
              <a:latin typeface="Roboto Light"/>
              <a:ea typeface="Roboto Light"/>
              <a:cs typeface="Roboto Light"/>
              <a:sym typeface="Roboto Light"/>
            </a:endParaRPr>
          </a:p>
        </p:txBody>
      </p:sp>
      <p:sp>
        <p:nvSpPr>
          <p:cNvPr id="318" name="Google Shape;318;p45"/>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DRY – Don’t Repeat yourself</a:t>
            </a:r>
            <a:endParaRPr sz="3500">
              <a:latin typeface="Roboto Light"/>
              <a:ea typeface="Roboto Light"/>
              <a:cs typeface="Roboto Light"/>
              <a:sym typeface="Roboto Light"/>
            </a:endParaRPr>
          </a:p>
        </p:txBody>
      </p:sp>
      <p:sp>
        <p:nvSpPr>
          <p:cNvPr id="319" name="Google Shape;319;p45">
            <a:hlinkClick r:id="rId3"/>
          </p:cNvPr>
          <p:cNvSpPr/>
          <p:nvPr/>
        </p:nvSpPr>
        <p:spPr>
          <a:xfrm>
            <a:off x="6462900" y="1287325"/>
            <a:ext cx="2281500" cy="760800"/>
          </a:xfrm>
          <a:prstGeom prst="roundRect">
            <a:avLst>
              <a:gd fmla="val 16667" name="adj"/>
            </a:avLst>
          </a:prstGeom>
          <a:solidFill>
            <a:srgbClr val="36609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Practice -19: Download this code and refactor it using DRY principle</a:t>
            </a:r>
            <a:endParaRPr>
              <a:solidFill>
                <a:schemeClr val="lt1"/>
              </a:solidFill>
            </a:endParaRPr>
          </a:p>
        </p:txBody>
      </p:sp>
      <p:sp>
        <p:nvSpPr>
          <p:cNvPr id="320" name="Google Shape;320;p45"/>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6"/>
          <p:cNvSpPr txBox="1"/>
          <p:nvPr>
            <p:ph idx="1" type="body"/>
          </p:nvPr>
        </p:nvSpPr>
        <p:spPr>
          <a:xfrm>
            <a:off x="512900" y="1576738"/>
            <a:ext cx="7036200" cy="2450700"/>
          </a:xfrm>
          <a:prstGeom prst="rect">
            <a:avLst/>
          </a:prstGeom>
          <a:noFill/>
          <a:ln>
            <a:noFill/>
          </a:ln>
        </p:spPr>
        <p:txBody>
          <a:bodyPr anchorCtr="0" anchor="t" bIns="45700" lIns="91425" spcFirstLastPara="1" rIns="91425" wrap="square" tIns="45700">
            <a:normAutofit lnSpcReduction="20000"/>
          </a:bodyPr>
          <a:lstStyle/>
          <a:p>
            <a:pPr indent="0" lvl="0" marL="342900" rtl="0" algn="l">
              <a:spcBef>
                <a:spcPts val="0"/>
              </a:spcBef>
              <a:spcAft>
                <a:spcPts val="0"/>
              </a:spcAft>
              <a:buNone/>
            </a:pPr>
            <a:r>
              <a:rPr lang="en" sz="1900">
                <a:solidFill>
                  <a:schemeClr val="dk1"/>
                </a:solidFill>
                <a:latin typeface="Roboto Light"/>
                <a:ea typeface="Roboto Light"/>
                <a:cs typeface="Roboto Light"/>
                <a:sym typeface="Roboto Light"/>
              </a:rPr>
              <a:t>Any method of an object should only call methods belonging to:</a:t>
            </a:r>
            <a:endParaRPr sz="1900">
              <a:solidFill>
                <a:schemeClr val="dk1"/>
              </a:solidFill>
              <a:latin typeface="Roboto Light"/>
              <a:ea typeface="Roboto Light"/>
              <a:cs typeface="Roboto Light"/>
              <a:sym typeface="Roboto Light"/>
            </a:endParaRPr>
          </a:p>
          <a:p>
            <a:pPr indent="0" lvl="0" marL="342900" rtl="0" algn="l">
              <a:spcBef>
                <a:spcPts val="0"/>
              </a:spcBef>
              <a:spcAft>
                <a:spcPts val="0"/>
              </a:spcAft>
              <a:buNone/>
            </a:pPr>
            <a:r>
              <a:t/>
            </a:r>
            <a:endParaRPr sz="1900">
              <a:solidFill>
                <a:schemeClr val="dk1"/>
              </a:solidFill>
              <a:latin typeface="Roboto Light"/>
              <a:ea typeface="Roboto Light"/>
              <a:cs typeface="Roboto Light"/>
              <a:sym typeface="Roboto Light"/>
            </a:endParaRPr>
          </a:p>
          <a:p>
            <a:pPr indent="-342900" lvl="0" marL="914400" rtl="0" algn="l">
              <a:spcBef>
                <a:spcPts val="560"/>
              </a:spcBef>
              <a:spcAft>
                <a:spcPts val="0"/>
              </a:spcAft>
              <a:buSzPts val="1800"/>
              <a:buFont typeface="Roboto Light"/>
              <a:buChar char="●"/>
            </a:pPr>
            <a:r>
              <a:rPr lang="en">
                <a:latin typeface="Roboto Light"/>
                <a:ea typeface="Roboto Light"/>
                <a:cs typeface="Roboto Light"/>
                <a:sym typeface="Roboto Light"/>
              </a:rPr>
              <a:t>itself</a:t>
            </a:r>
            <a:endParaRPr>
              <a:latin typeface="Roboto Light"/>
              <a:ea typeface="Roboto Light"/>
              <a:cs typeface="Roboto Light"/>
              <a:sym typeface="Roboto Light"/>
            </a:endParaRPr>
          </a:p>
          <a:p>
            <a:pPr indent="-342900" lvl="0" marL="914400" rtl="0" algn="l">
              <a:spcBef>
                <a:spcPts val="0"/>
              </a:spcBef>
              <a:spcAft>
                <a:spcPts val="0"/>
              </a:spcAft>
              <a:buSzPts val="1800"/>
              <a:buFont typeface="Roboto Light"/>
              <a:buChar char="●"/>
            </a:pPr>
            <a:r>
              <a:rPr lang="en">
                <a:latin typeface="Roboto Light"/>
                <a:ea typeface="Roboto Light"/>
                <a:cs typeface="Roboto Light"/>
                <a:sym typeface="Roboto Light"/>
              </a:rPr>
              <a:t>any composite objects</a:t>
            </a:r>
            <a:endParaRPr>
              <a:latin typeface="Roboto Light"/>
              <a:ea typeface="Roboto Light"/>
              <a:cs typeface="Roboto Light"/>
              <a:sym typeface="Roboto Light"/>
            </a:endParaRPr>
          </a:p>
          <a:p>
            <a:pPr indent="-342900" lvl="0" marL="914400" rtl="0" algn="l">
              <a:spcBef>
                <a:spcPts val="0"/>
              </a:spcBef>
              <a:spcAft>
                <a:spcPts val="0"/>
              </a:spcAft>
              <a:buSzPts val="1800"/>
              <a:buFont typeface="Roboto Light"/>
              <a:buChar char="●"/>
            </a:pPr>
            <a:r>
              <a:rPr lang="en">
                <a:latin typeface="Roboto Light"/>
                <a:ea typeface="Roboto Light"/>
                <a:cs typeface="Roboto Light"/>
                <a:sym typeface="Roboto Light"/>
              </a:rPr>
              <a:t>any parameters that were passed in to the method</a:t>
            </a:r>
            <a:endParaRPr>
              <a:latin typeface="Roboto Light"/>
              <a:ea typeface="Roboto Light"/>
              <a:cs typeface="Roboto Light"/>
              <a:sym typeface="Roboto Light"/>
            </a:endParaRPr>
          </a:p>
          <a:p>
            <a:pPr indent="-342900" lvl="0" marL="914400" rtl="0" algn="l">
              <a:spcBef>
                <a:spcPts val="0"/>
              </a:spcBef>
              <a:spcAft>
                <a:spcPts val="0"/>
              </a:spcAft>
              <a:buSzPts val="1800"/>
              <a:buFont typeface="Roboto Light"/>
              <a:buChar char="●"/>
            </a:pPr>
            <a:r>
              <a:rPr lang="en">
                <a:latin typeface="Roboto Light"/>
                <a:ea typeface="Roboto Light"/>
                <a:cs typeface="Roboto Light"/>
                <a:sym typeface="Roboto Light"/>
              </a:rPr>
              <a:t>any objects it created</a:t>
            </a:r>
            <a:endParaRPr>
              <a:latin typeface="Roboto Light"/>
              <a:ea typeface="Roboto Light"/>
              <a:cs typeface="Roboto Light"/>
              <a:sym typeface="Roboto Light"/>
            </a:endParaRPr>
          </a:p>
          <a:p>
            <a:pPr indent="-342900" lvl="0" marL="342900" rtl="0" algn="l">
              <a:spcBef>
                <a:spcPts val="640"/>
              </a:spcBef>
              <a:spcAft>
                <a:spcPts val="1200"/>
              </a:spcAft>
              <a:buClr>
                <a:schemeClr val="dk1"/>
              </a:buClr>
              <a:buSzPts val="3200"/>
              <a:buNone/>
            </a:pPr>
            <a:r>
              <a:t/>
            </a:r>
            <a:endParaRPr>
              <a:latin typeface="Roboto Light"/>
              <a:ea typeface="Roboto Light"/>
              <a:cs typeface="Roboto Light"/>
              <a:sym typeface="Roboto Light"/>
            </a:endParaRPr>
          </a:p>
        </p:txBody>
      </p:sp>
      <p:sp>
        <p:nvSpPr>
          <p:cNvPr id="326" name="Google Shape;326;p46"/>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The Law of Demeter</a:t>
            </a:r>
            <a:endParaRPr sz="3500">
              <a:latin typeface="Roboto Light"/>
              <a:ea typeface="Roboto Light"/>
              <a:cs typeface="Roboto Light"/>
              <a:sym typeface="Roboto Light"/>
            </a:endParaRPr>
          </a:p>
        </p:txBody>
      </p:sp>
      <p:sp>
        <p:nvSpPr>
          <p:cNvPr id="327" name="Google Shape;327;p46"/>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7"/>
          <p:cNvSpPr txBox="1"/>
          <p:nvPr>
            <p:ph idx="1" type="body"/>
          </p:nvPr>
        </p:nvSpPr>
        <p:spPr>
          <a:xfrm>
            <a:off x="186725" y="1104850"/>
            <a:ext cx="6099900" cy="3394500"/>
          </a:xfrm>
          <a:prstGeom prst="rect">
            <a:avLst/>
          </a:prstGeom>
          <a:noFill/>
          <a:ln>
            <a:noFill/>
          </a:ln>
        </p:spPr>
        <p:txBody>
          <a:bodyPr anchorCtr="0" anchor="t" bIns="45700" lIns="91425" spcFirstLastPara="1" rIns="91425" wrap="square" tIns="45700">
            <a:normAutofit fontScale="92500" lnSpcReduction="10000"/>
          </a:bodyPr>
          <a:lstStyle/>
          <a:p>
            <a:pPr indent="-358140" lvl="0" marL="342900" rtl="0" algn="l">
              <a:spcBef>
                <a:spcPts val="0"/>
              </a:spcBef>
              <a:spcAft>
                <a:spcPts val="0"/>
              </a:spcAft>
              <a:buClr>
                <a:schemeClr val="dk1"/>
              </a:buClr>
              <a:buSzPct val="177778"/>
              <a:buFont typeface="Roboto Light"/>
              <a:buChar char="●"/>
            </a:pPr>
            <a:r>
              <a:rPr lang="en">
                <a:latin typeface="Roboto Light"/>
                <a:ea typeface="Roboto Light"/>
                <a:cs typeface="Roboto Light"/>
                <a:sym typeface="Roboto Light"/>
              </a:rPr>
              <a:t>Methods belonging to objects that were returned from some other call.</a:t>
            </a:r>
            <a:endParaRPr>
              <a:latin typeface="Roboto Light"/>
              <a:ea typeface="Roboto Light"/>
              <a:cs typeface="Roboto Light"/>
              <a:sym typeface="Roboto Light"/>
            </a:endParaRPr>
          </a:p>
          <a:p>
            <a:pPr indent="0" lvl="0" marL="0" rtl="0" algn="l">
              <a:spcBef>
                <a:spcPts val="544"/>
              </a:spcBef>
              <a:spcAft>
                <a:spcPts val="0"/>
              </a:spcAft>
              <a:buClr>
                <a:schemeClr val="dk1"/>
              </a:buClr>
              <a:buSzPct val="177778"/>
              <a:buNone/>
            </a:pPr>
            <a:r>
              <a:t/>
            </a:r>
            <a:endParaRPr>
              <a:latin typeface="Roboto Light"/>
              <a:ea typeface="Roboto Light"/>
              <a:cs typeface="Roboto Light"/>
              <a:sym typeface="Roboto Light"/>
            </a:endParaRPr>
          </a:p>
          <a:p>
            <a:pPr indent="0" lvl="0" marL="0" rtl="0" algn="l">
              <a:spcBef>
                <a:spcPts val="544"/>
              </a:spcBef>
              <a:spcAft>
                <a:spcPts val="0"/>
              </a:spcAft>
              <a:buClr>
                <a:schemeClr val="dk1"/>
              </a:buClr>
              <a:buSzPct val="177778"/>
              <a:buNone/>
            </a:pPr>
            <a:r>
              <a:rPr lang="en">
                <a:latin typeface="Courier New"/>
                <a:ea typeface="Courier New"/>
                <a:cs typeface="Courier New"/>
                <a:sym typeface="Courier New"/>
              </a:rPr>
              <a:t>my_television.front_panel.switches.power.on();</a:t>
            </a:r>
            <a:endParaRPr>
              <a:latin typeface="Courier New"/>
              <a:ea typeface="Courier New"/>
              <a:cs typeface="Courier New"/>
              <a:sym typeface="Courier New"/>
            </a:endParaRPr>
          </a:p>
          <a:p>
            <a:pPr indent="0" lvl="0" marL="0" rtl="0" algn="l">
              <a:spcBef>
                <a:spcPts val="544"/>
              </a:spcBef>
              <a:spcAft>
                <a:spcPts val="0"/>
              </a:spcAft>
              <a:buClr>
                <a:schemeClr val="dk1"/>
              </a:buClr>
              <a:buSzPct val="177778"/>
              <a:buNone/>
            </a:pPr>
            <a:r>
              <a:rPr lang="en">
                <a:latin typeface="Courier New"/>
                <a:ea typeface="Courier New"/>
                <a:cs typeface="Courier New"/>
                <a:sym typeface="Courier New"/>
              </a:rPr>
              <a:t>	        v/s</a:t>
            </a:r>
            <a:endParaRPr>
              <a:latin typeface="Courier New"/>
              <a:ea typeface="Courier New"/>
              <a:cs typeface="Courier New"/>
              <a:sym typeface="Courier New"/>
            </a:endParaRPr>
          </a:p>
          <a:p>
            <a:pPr indent="0" lvl="0" marL="0" rtl="0" algn="l">
              <a:spcBef>
                <a:spcPts val="544"/>
              </a:spcBef>
              <a:spcAft>
                <a:spcPts val="0"/>
              </a:spcAft>
              <a:buClr>
                <a:schemeClr val="dk1"/>
              </a:buClr>
              <a:buSzPct val="177778"/>
              <a:buNone/>
            </a:pPr>
            <a:r>
              <a:rPr lang="en">
                <a:latin typeface="Courier New"/>
                <a:ea typeface="Courier New"/>
                <a:cs typeface="Courier New"/>
                <a:sym typeface="Courier New"/>
              </a:rPr>
              <a:t>my_television.power_up();</a:t>
            </a:r>
            <a:endParaRPr>
              <a:latin typeface="Courier New"/>
              <a:ea typeface="Courier New"/>
              <a:cs typeface="Courier New"/>
              <a:sym typeface="Courier New"/>
            </a:endParaRPr>
          </a:p>
          <a:p>
            <a:pPr indent="0" lvl="0" marL="0" rtl="0" algn="l">
              <a:spcBef>
                <a:spcPts val="544"/>
              </a:spcBef>
              <a:spcAft>
                <a:spcPts val="0"/>
              </a:spcAft>
              <a:buClr>
                <a:schemeClr val="dk1"/>
              </a:buClr>
              <a:buSzPct val="177778"/>
              <a:buNone/>
            </a:pPr>
            <a:r>
              <a:t/>
            </a:r>
            <a:endParaRPr>
              <a:latin typeface="Roboto Light"/>
              <a:ea typeface="Roboto Light"/>
              <a:cs typeface="Roboto Light"/>
              <a:sym typeface="Roboto Light"/>
            </a:endParaRPr>
          </a:p>
          <a:p>
            <a:pPr indent="-358140" lvl="0" marL="342900" rtl="0" algn="l">
              <a:spcBef>
                <a:spcPts val="544"/>
              </a:spcBef>
              <a:spcAft>
                <a:spcPts val="0"/>
              </a:spcAft>
              <a:buClr>
                <a:schemeClr val="dk1"/>
              </a:buClr>
              <a:buSzPct val="177778"/>
              <a:buFont typeface="Roboto Light"/>
              <a:buChar char="●"/>
            </a:pPr>
            <a:r>
              <a:rPr lang="en">
                <a:latin typeface="Roboto Light"/>
                <a:ea typeface="Roboto Light"/>
                <a:cs typeface="Roboto Light"/>
                <a:sym typeface="Roboto Light"/>
              </a:rPr>
              <a:t>Talk only to your neighbors, not with their neighbors.</a:t>
            </a:r>
            <a:endParaRPr>
              <a:latin typeface="Roboto Light"/>
              <a:ea typeface="Roboto Light"/>
              <a:cs typeface="Roboto Light"/>
              <a:sym typeface="Roboto Light"/>
            </a:endParaRPr>
          </a:p>
          <a:p>
            <a:pPr indent="-342900" lvl="0" marL="342900" rtl="0" algn="l">
              <a:spcBef>
                <a:spcPts val="544"/>
              </a:spcBef>
              <a:spcAft>
                <a:spcPts val="1200"/>
              </a:spcAft>
              <a:buClr>
                <a:schemeClr val="dk1"/>
              </a:buClr>
              <a:buSzPct val="177778"/>
              <a:buNone/>
            </a:pPr>
            <a:r>
              <a:t/>
            </a:r>
            <a:endParaRPr>
              <a:latin typeface="Roboto Light"/>
              <a:ea typeface="Roboto Light"/>
              <a:cs typeface="Roboto Light"/>
              <a:sym typeface="Roboto Light"/>
            </a:endParaRPr>
          </a:p>
        </p:txBody>
      </p:sp>
      <p:pic>
        <p:nvPicPr>
          <p:cNvPr id="333" name="Google Shape;333;p47"/>
          <p:cNvPicPr preferRelativeResize="0"/>
          <p:nvPr/>
        </p:nvPicPr>
        <p:blipFill rotWithShape="1">
          <a:blip r:embed="rId3">
            <a:alphaModFix/>
          </a:blip>
          <a:srcRect b="0" l="0" r="0" t="0"/>
          <a:stretch/>
        </p:blipFill>
        <p:spPr>
          <a:xfrm>
            <a:off x="6371900" y="760800"/>
            <a:ext cx="2772109" cy="4082575"/>
          </a:xfrm>
          <a:prstGeom prst="rect">
            <a:avLst/>
          </a:prstGeom>
          <a:noFill/>
          <a:ln>
            <a:noFill/>
          </a:ln>
        </p:spPr>
      </p:pic>
      <p:sp>
        <p:nvSpPr>
          <p:cNvPr id="334" name="Google Shape;334;p47"/>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Train Wreck</a:t>
            </a:r>
            <a:endParaRPr sz="3500">
              <a:latin typeface="Roboto Light"/>
              <a:ea typeface="Roboto Light"/>
              <a:cs typeface="Roboto Light"/>
              <a:sym typeface="Roboto Light"/>
            </a:endParaRPr>
          </a:p>
        </p:txBody>
      </p:sp>
      <p:sp>
        <p:nvSpPr>
          <p:cNvPr id="335" name="Google Shape;335;p47"/>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8"/>
          <p:cNvSpPr txBox="1"/>
          <p:nvPr>
            <p:ph idx="1" type="body"/>
          </p:nvPr>
        </p:nvSpPr>
        <p:spPr>
          <a:xfrm>
            <a:off x="567725" y="1104850"/>
            <a:ext cx="8067900" cy="33945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544"/>
              </a:spcBef>
              <a:spcAft>
                <a:spcPts val="0"/>
              </a:spcAft>
              <a:buSzPts val="770"/>
              <a:buNone/>
            </a:pPr>
            <a:r>
              <a:rPr lang="en" sz="1460">
                <a:latin typeface="Roboto Light"/>
                <a:ea typeface="Roboto Light"/>
                <a:cs typeface="Roboto Light"/>
                <a:sym typeface="Roboto Light"/>
              </a:rPr>
              <a:t>What is the problem here?</a:t>
            </a:r>
            <a:endParaRPr sz="1460">
              <a:latin typeface="Roboto Light"/>
              <a:ea typeface="Roboto Light"/>
              <a:cs typeface="Roboto Light"/>
              <a:sym typeface="Roboto Light"/>
            </a:endParaRPr>
          </a:p>
          <a:p>
            <a:pPr indent="-325120" lvl="0" marL="342900" rtl="0" algn="l">
              <a:lnSpc>
                <a:spcPct val="95000"/>
              </a:lnSpc>
              <a:spcBef>
                <a:spcPts val="544"/>
              </a:spcBef>
              <a:spcAft>
                <a:spcPts val="0"/>
              </a:spcAft>
              <a:buClr>
                <a:schemeClr val="dk1"/>
              </a:buClr>
              <a:buSzPts val="2440"/>
              <a:buFont typeface="Roboto Light"/>
              <a:buChar char="●"/>
            </a:pPr>
            <a:r>
              <a:rPr lang="en" sz="1460">
                <a:latin typeface="Roboto Light"/>
                <a:ea typeface="Roboto Light"/>
                <a:cs typeface="Roboto Light"/>
                <a:sym typeface="Roboto Light"/>
              </a:rPr>
              <a:t>Deep Chaining: order.Customer.Address.Street and order.Customer.Address.City traverse multiple levels of objects, forming a "train wreck."</a:t>
            </a:r>
            <a:endParaRPr sz="1460">
              <a:latin typeface="Roboto Light"/>
              <a:ea typeface="Roboto Light"/>
              <a:cs typeface="Roboto Light"/>
              <a:sym typeface="Roboto Light"/>
            </a:endParaRPr>
          </a:p>
          <a:p>
            <a:pPr indent="-264160" lvl="1" marL="742950" rtl="0" algn="l">
              <a:lnSpc>
                <a:spcPct val="95000"/>
              </a:lnSpc>
              <a:spcBef>
                <a:spcPts val="544"/>
              </a:spcBef>
              <a:spcAft>
                <a:spcPts val="0"/>
              </a:spcAft>
              <a:buSzPts val="1460"/>
              <a:buFont typeface="Roboto Light"/>
              <a:buChar char="○"/>
            </a:pPr>
            <a:r>
              <a:rPr lang="en" sz="1180">
                <a:latin typeface="Roboto Light"/>
                <a:ea typeface="Roboto Light"/>
                <a:cs typeface="Roboto Light"/>
                <a:sym typeface="Roboto Light"/>
              </a:rPr>
              <a:t>Reduced readability</a:t>
            </a:r>
            <a:endParaRPr sz="1180">
              <a:latin typeface="Roboto Light"/>
              <a:ea typeface="Roboto Light"/>
              <a:cs typeface="Roboto Light"/>
              <a:sym typeface="Roboto Light"/>
            </a:endParaRPr>
          </a:p>
          <a:p>
            <a:pPr indent="-264160" lvl="1" marL="742950" rtl="0" algn="l">
              <a:lnSpc>
                <a:spcPct val="95000"/>
              </a:lnSpc>
              <a:spcBef>
                <a:spcPts val="544"/>
              </a:spcBef>
              <a:spcAft>
                <a:spcPts val="0"/>
              </a:spcAft>
              <a:buSzPts val="1460"/>
              <a:buFont typeface="Roboto Light"/>
              <a:buChar char="○"/>
            </a:pPr>
            <a:r>
              <a:rPr lang="en" sz="1180">
                <a:latin typeface="Roboto Light"/>
                <a:ea typeface="Roboto Light"/>
                <a:cs typeface="Roboto Light"/>
                <a:sym typeface="Roboto Light"/>
              </a:rPr>
              <a:t>Increased Fragility</a:t>
            </a:r>
            <a:endParaRPr sz="1180">
              <a:latin typeface="Roboto Light"/>
              <a:ea typeface="Roboto Light"/>
              <a:cs typeface="Roboto Light"/>
              <a:sym typeface="Roboto Light"/>
            </a:endParaRPr>
          </a:p>
          <a:p>
            <a:pPr indent="-264160" lvl="1" marL="742950" rtl="0" algn="l">
              <a:lnSpc>
                <a:spcPct val="95000"/>
              </a:lnSpc>
              <a:spcBef>
                <a:spcPts val="544"/>
              </a:spcBef>
              <a:spcAft>
                <a:spcPts val="0"/>
              </a:spcAft>
              <a:buSzPts val="1460"/>
              <a:buFont typeface="Roboto Light"/>
              <a:buChar char="○"/>
            </a:pPr>
            <a:r>
              <a:rPr lang="en" sz="1180">
                <a:latin typeface="Roboto Light"/>
                <a:ea typeface="Roboto Light"/>
                <a:cs typeface="Roboto Light"/>
                <a:sym typeface="Roboto Light"/>
              </a:rPr>
              <a:t>Makes Testing Harder</a:t>
            </a:r>
            <a:endParaRPr sz="1180">
              <a:latin typeface="Roboto Light"/>
              <a:ea typeface="Roboto Light"/>
              <a:cs typeface="Roboto Light"/>
              <a:sym typeface="Roboto Light"/>
            </a:endParaRPr>
          </a:p>
          <a:p>
            <a:pPr indent="-325120" lvl="0" marL="342900" rtl="0" algn="l">
              <a:lnSpc>
                <a:spcPct val="95000"/>
              </a:lnSpc>
              <a:spcBef>
                <a:spcPts val="544"/>
              </a:spcBef>
              <a:spcAft>
                <a:spcPts val="0"/>
              </a:spcAft>
              <a:buClr>
                <a:schemeClr val="dk1"/>
              </a:buClr>
              <a:buSzPts val="2440"/>
              <a:buFont typeface="Roboto Light"/>
              <a:buChar char="●"/>
            </a:pPr>
            <a:r>
              <a:rPr lang="en" sz="1460">
                <a:latin typeface="Roboto Light"/>
                <a:ea typeface="Roboto Light"/>
                <a:cs typeface="Roboto Light"/>
                <a:sym typeface="Roboto Light"/>
              </a:rPr>
              <a:t>Tight Coupling: The OrderProcessor class is tightly coupled to the internal structure of Order, Customer, and Address. Any change to these structures will ripple through the code.</a:t>
            </a:r>
            <a:endParaRPr sz="1460">
              <a:latin typeface="Roboto Light"/>
              <a:ea typeface="Roboto Light"/>
              <a:cs typeface="Roboto Light"/>
              <a:sym typeface="Roboto Light"/>
            </a:endParaRPr>
          </a:p>
          <a:p>
            <a:pPr indent="-325120" lvl="0" marL="342900" rtl="0" algn="l">
              <a:lnSpc>
                <a:spcPct val="95000"/>
              </a:lnSpc>
              <a:spcBef>
                <a:spcPts val="544"/>
              </a:spcBef>
              <a:spcAft>
                <a:spcPts val="0"/>
              </a:spcAft>
              <a:buClr>
                <a:schemeClr val="dk1"/>
              </a:buClr>
              <a:buSzPts val="2440"/>
              <a:buFont typeface="Roboto Light"/>
              <a:buChar char="●"/>
            </a:pPr>
            <a:r>
              <a:rPr lang="en" sz="1460">
                <a:latin typeface="Roboto Light"/>
                <a:ea typeface="Roboto Light"/>
                <a:cs typeface="Roboto Light"/>
                <a:sym typeface="Roboto Light"/>
              </a:rPr>
              <a:t>Encapsulation Violation: The Order and Customer classes expose too much of their internal details, reducing encapsulation.</a:t>
            </a:r>
            <a:endParaRPr sz="1460">
              <a:latin typeface="Roboto Light"/>
              <a:ea typeface="Roboto Light"/>
              <a:cs typeface="Roboto Light"/>
              <a:sym typeface="Roboto Light"/>
            </a:endParaRPr>
          </a:p>
          <a:p>
            <a:pPr indent="-342900" lvl="0" marL="342900" rtl="0" algn="l">
              <a:lnSpc>
                <a:spcPct val="95000"/>
              </a:lnSpc>
              <a:spcBef>
                <a:spcPts val="544"/>
              </a:spcBef>
              <a:spcAft>
                <a:spcPts val="1200"/>
              </a:spcAft>
              <a:buClr>
                <a:schemeClr val="dk1"/>
              </a:buClr>
              <a:buSzPts val="2240"/>
              <a:buNone/>
            </a:pPr>
            <a:r>
              <a:t/>
            </a:r>
            <a:endParaRPr sz="1460">
              <a:latin typeface="Roboto Light"/>
              <a:ea typeface="Roboto Light"/>
              <a:cs typeface="Roboto Light"/>
              <a:sym typeface="Roboto Light"/>
            </a:endParaRPr>
          </a:p>
        </p:txBody>
      </p:sp>
      <p:sp>
        <p:nvSpPr>
          <p:cNvPr id="341" name="Google Shape;341;p48"/>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Train Wreck</a:t>
            </a:r>
            <a:endParaRPr sz="3500">
              <a:latin typeface="Roboto Light"/>
              <a:ea typeface="Roboto Light"/>
              <a:cs typeface="Roboto Light"/>
              <a:sym typeface="Roboto Light"/>
            </a:endParaRPr>
          </a:p>
        </p:txBody>
      </p:sp>
      <p:sp>
        <p:nvSpPr>
          <p:cNvPr id="342" name="Google Shape;342;p48"/>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9"/>
          <p:cNvSpPr/>
          <p:nvPr/>
        </p:nvSpPr>
        <p:spPr>
          <a:xfrm>
            <a:off x="489450" y="1600200"/>
            <a:ext cx="4082700" cy="22083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500"/>
              <a:buFont typeface="Calibri"/>
              <a:buNone/>
            </a:pPr>
            <a:r>
              <a:rPr lang="en" sz="1700">
                <a:solidFill>
                  <a:schemeClr val="dk1"/>
                </a:solidFill>
                <a:latin typeface="Roboto Light"/>
                <a:ea typeface="Roboto Light"/>
                <a:cs typeface="Roboto Light"/>
                <a:sym typeface="Roboto Light"/>
              </a:rPr>
              <a:t>"Always implement things when you actually need them, never when you just foresee that you need them.” – Ron Jeffries</a:t>
            </a:r>
            <a:endParaRPr sz="1700">
              <a:latin typeface="Roboto Light"/>
              <a:ea typeface="Roboto Light"/>
              <a:cs typeface="Roboto Light"/>
              <a:sym typeface="Roboto Light"/>
            </a:endParaRPr>
          </a:p>
          <a:p>
            <a:pPr indent="0" lvl="0" marL="0" marR="0" rtl="0" algn="l">
              <a:spcBef>
                <a:spcPts val="0"/>
              </a:spcBef>
              <a:spcAft>
                <a:spcPts val="0"/>
              </a:spcAft>
              <a:buClr>
                <a:schemeClr val="dk1"/>
              </a:buClr>
              <a:buSzPts val="2500"/>
              <a:buFont typeface="Calibri"/>
              <a:buNone/>
            </a:pPr>
            <a:r>
              <a:t/>
            </a:r>
            <a:endParaRPr sz="1700">
              <a:solidFill>
                <a:schemeClr val="dk1"/>
              </a:solidFill>
              <a:latin typeface="Roboto Light"/>
              <a:ea typeface="Roboto Light"/>
              <a:cs typeface="Roboto Light"/>
              <a:sym typeface="Roboto Light"/>
            </a:endParaRPr>
          </a:p>
          <a:p>
            <a:pPr indent="0" lvl="0" marL="0" marR="0" rtl="0" algn="just">
              <a:spcBef>
                <a:spcPts val="0"/>
              </a:spcBef>
              <a:spcAft>
                <a:spcPts val="0"/>
              </a:spcAft>
              <a:buClr>
                <a:schemeClr val="dk1"/>
              </a:buClr>
              <a:buSzPts val="2500"/>
              <a:buFont typeface="Calibri"/>
              <a:buNone/>
            </a:pPr>
            <a:r>
              <a:rPr lang="en" sz="1700">
                <a:solidFill>
                  <a:schemeClr val="dk1"/>
                </a:solidFill>
                <a:latin typeface="Roboto Light"/>
                <a:ea typeface="Roboto Light"/>
                <a:cs typeface="Roboto Light"/>
                <a:sym typeface="Roboto Light"/>
              </a:rPr>
              <a:t>The need for combining it with the supporting practices, rather than using it standalone</a:t>
            </a:r>
            <a:endParaRPr sz="1700">
              <a:latin typeface="Roboto Light"/>
              <a:ea typeface="Roboto Light"/>
              <a:cs typeface="Roboto Light"/>
              <a:sym typeface="Roboto Light"/>
            </a:endParaRPr>
          </a:p>
        </p:txBody>
      </p:sp>
      <p:sp>
        <p:nvSpPr>
          <p:cNvPr id="348" name="Google Shape;348;p49"/>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YAGNI (You ain’t gonna need it)</a:t>
            </a:r>
            <a:endParaRPr sz="3500">
              <a:latin typeface="Roboto Light"/>
              <a:ea typeface="Roboto Light"/>
              <a:cs typeface="Roboto Light"/>
              <a:sym typeface="Roboto Light"/>
            </a:endParaRPr>
          </a:p>
        </p:txBody>
      </p:sp>
      <p:pic>
        <p:nvPicPr>
          <p:cNvPr id="349" name="Google Shape;349;p49"/>
          <p:cNvPicPr preferRelativeResize="0"/>
          <p:nvPr/>
        </p:nvPicPr>
        <p:blipFill rotWithShape="1">
          <a:blip r:embed="rId3">
            <a:alphaModFix/>
          </a:blip>
          <a:srcRect b="0" l="0" r="0" t="0"/>
          <a:stretch/>
        </p:blipFill>
        <p:spPr>
          <a:xfrm>
            <a:off x="5061400" y="747662"/>
            <a:ext cx="4082602" cy="4082575"/>
          </a:xfrm>
          <a:prstGeom prst="rect">
            <a:avLst/>
          </a:prstGeom>
          <a:noFill/>
          <a:ln>
            <a:noFill/>
          </a:ln>
        </p:spPr>
      </p:pic>
      <p:sp>
        <p:nvSpPr>
          <p:cNvPr id="350" name="Google Shape;350;p49"/>
          <p:cNvSpPr txBox="1"/>
          <p:nvPr/>
        </p:nvSpPr>
        <p:spPr>
          <a:xfrm>
            <a:off x="609950" y="1037975"/>
            <a:ext cx="3581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Roboto"/>
                <a:ea typeface="Roboto"/>
                <a:cs typeface="Roboto"/>
                <a:sym typeface="Roboto"/>
              </a:rPr>
              <a:t>What If…..</a:t>
            </a:r>
            <a:endParaRPr sz="1800">
              <a:solidFill>
                <a:schemeClr val="dk1"/>
              </a:solidFill>
              <a:latin typeface="Roboto"/>
              <a:ea typeface="Roboto"/>
              <a:cs typeface="Roboto"/>
              <a:sym typeface="Roboto"/>
            </a:endParaRPr>
          </a:p>
        </p:txBody>
      </p:sp>
      <p:sp>
        <p:nvSpPr>
          <p:cNvPr id="351" name="Google Shape;351;p49"/>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0"/>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YAGNI (You ain’t gonna need it)</a:t>
            </a:r>
            <a:endParaRPr sz="3500">
              <a:latin typeface="Roboto Light"/>
              <a:ea typeface="Roboto Light"/>
              <a:cs typeface="Roboto Light"/>
              <a:sym typeface="Roboto Light"/>
            </a:endParaRPr>
          </a:p>
        </p:txBody>
      </p:sp>
      <p:pic>
        <p:nvPicPr>
          <p:cNvPr id="357" name="Google Shape;357;p50"/>
          <p:cNvPicPr preferRelativeResize="0"/>
          <p:nvPr/>
        </p:nvPicPr>
        <p:blipFill>
          <a:blip r:embed="rId3">
            <a:alphaModFix/>
          </a:blip>
          <a:stretch>
            <a:fillRect/>
          </a:stretch>
        </p:blipFill>
        <p:spPr>
          <a:xfrm>
            <a:off x="488050" y="760800"/>
            <a:ext cx="3941353" cy="4082575"/>
          </a:xfrm>
          <a:prstGeom prst="rect">
            <a:avLst/>
          </a:prstGeom>
          <a:noFill/>
          <a:ln>
            <a:noFill/>
          </a:ln>
        </p:spPr>
      </p:pic>
      <p:pic>
        <p:nvPicPr>
          <p:cNvPr id="358" name="Google Shape;358;p50"/>
          <p:cNvPicPr preferRelativeResize="0"/>
          <p:nvPr/>
        </p:nvPicPr>
        <p:blipFill>
          <a:blip r:embed="rId4">
            <a:alphaModFix/>
          </a:blip>
          <a:stretch>
            <a:fillRect/>
          </a:stretch>
        </p:blipFill>
        <p:spPr>
          <a:xfrm>
            <a:off x="5455947" y="1257288"/>
            <a:ext cx="3419475" cy="2628900"/>
          </a:xfrm>
          <a:prstGeom prst="rect">
            <a:avLst/>
          </a:prstGeom>
          <a:noFill/>
          <a:ln>
            <a:noFill/>
          </a:ln>
        </p:spPr>
      </p:pic>
      <p:sp>
        <p:nvSpPr>
          <p:cNvPr id="359" name="Google Shape;359;p50"/>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5">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1"/>
          <p:cNvSpPr/>
          <p:nvPr/>
        </p:nvSpPr>
        <p:spPr>
          <a:xfrm>
            <a:off x="489450" y="1600200"/>
            <a:ext cx="4082700" cy="2208300"/>
          </a:xfrm>
          <a:prstGeom prst="rect">
            <a:avLst/>
          </a:prstGeom>
          <a:noFill/>
          <a:ln>
            <a:noFill/>
          </a:ln>
        </p:spPr>
        <p:txBody>
          <a:bodyPr anchorCtr="0" anchor="t" bIns="45700" lIns="91425" spcFirstLastPara="1" rIns="91425" wrap="square" tIns="45700">
            <a:noAutofit/>
          </a:bodyPr>
          <a:lstStyle/>
          <a:p>
            <a:pPr indent="-314325" lvl="0" marL="685800" rtl="0" algn="l">
              <a:lnSpc>
                <a:spcPct val="158000"/>
              </a:lnSpc>
              <a:spcBef>
                <a:spcPts val="0"/>
              </a:spcBef>
              <a:spcAft>
                <a:spcPts val="0"/>
              </a:spcAft>
              <a:buClr>
                <a:srgbClr val="273239"/>
              </a:buClr>
              <a:buSzPts val="1350"/>
              <a:buFont typeface="Roboto Light"/>
              <a:buChar char="●"/>
            </a:pPr>
            <a:r>
              <a:rPr lang="en" sz="1350">
                <a:solidFill>
                  <a:srgbClr val="273239"/>
                </a:solidFill>
                <a:latin typeface="Roboto Light"/>
                <a:ea typeface="Roboto Light"/>
                <a:cs typeface="Roboto Light"/>
                <a:sym typeface="Roboto Light"/>
              </a:rPr>
              <a:t>Cost of Building - </a:t>
            </a:r>
            <a:r>
              <a:rPr lang="en" sz="1350">
                <a:solidFill>
                  <a:srgbClr val="273239"/>
                </a:solidFill>
                <a:latin typeface="Roboto Light"/>
                <a:ea typeface="Roboto Light"/>
                <a:cs typeface="Roboto Light"/>
                <a:sym typeface="Roboto Light"/>
              </a:rPr>
              <a:t>Wrong</a:t>
            </a:r>
            <a:r>
              <a:rPr lang="en" sz="1350">
                <a:solidFill>
                  <a:srgbClr val="273239"/>
                </a:solidFill>
                <a:latin typeface="Roboto Light"/>
                <a:ea typeface="Roboto Light"/>
                <a:cs typeface="Roboto Light"/>
                <a:sym typeface="Roboto Light"/>
              </a:rPr>
              <a:t> features</a:t>
            </a:r>
            <a:endParaRPr sz="1350">
              <a:solidFill>
                <a:srgbClr val="273239"/>
              </a:solidFill>
              <a:latin typeface="Roboto Light"/>
              <a:ea typeface="Roboto Light"/>
              <a:cs typeface="Roboto Light"/>
              <a:sym typeface="Roboto Light"/>
            </a:endParaRPr>
          </a:p>
          <a:p>
            <a:pPr indent="-314325" lvl="0" marL="685800" rtl="0" algn="l">
              <a:lnSpc>
                <a:spcPct val="158000"/>
              </a:lnSpc>
              <a:spcBef>
                <a:spcPts val="0"/>
              </a:spcBef>
              <a:spcAft>
                <a:spcPts val="0"/>
              </a:spcAft>
              <a:buClr>
                <a:srgbClr val="273239"/>
              </a:buClr>
              <a:buSzPts val="1350"/>
              <a:buFont typeface="Roboto Light"/>
              <a:buChar char="●"/>
            </a:pPr>
            <a:r>
              <a:rPr lang="en" sz="1350">
                <a:solidFill>
                  <a:srgbClr val="273239"/>
                </a:solidFill>
                <a:highlight>
                  <a:srgbClr val="FFFFFF"/>
                </a:highlight>
                <a:latin typeface="Roboto Light"/>
                <a:ea typeface="Roboto Light"/>
                <a:cs typeface="Roboto Light"/>
                <a:sym typeface="Roboto Light"/>
              </a:rPr>
              <a:t>Cost of Delay - If you work for the next Sprints, you will fail this Sprint</a:t>
            </a:r>
            <a:endParaRPr sz="1350">
              <a:solidFill>
                <a:srgbClr val="273239"/>
              </a:solidFill>
              <a:highlight>
                <a:srgbClr val="FFFFFF"/>
              </a:highlight>
              <a:latin typeface="Roboto Light"/>
              <a:ea typeface="Roboto Light"/>
              <a:cs typeface="Roboto Light"/>
              <a:sym typeface="Roboto Light"/>
            </a:endParaRPr>
          </a:p>
          <a:p>
            <a:pPr indent="-314325" lvl="0" marL="685800" rtl="0" algn="l">
              <a:lnSpc>
                <a:spcPct val="158000"/>
              </a:lnSpc>
              <a:spcBef>
                <a:spcPts val="0"/>
              </a:spcBef>
              <a:spcAft>
                <a:spcPts val="0"/>
              </a:spcAft>
              <a:buClr>
                <a:srgbClr val="273239"/>
              </a:buClr>
              <a:buSzPts val="1350"/>
              <a:buFont typeface="Roboto Light"/>
              <a:buChar char="●"/>
            </a:pPr>
            <a:r>
              <a:rPr lang="en" sz="1350">
                <a:solidFill>
                  <a:srgbClr val="273239"/>
                </a:solidFill>
                <a:highlight>
                  <a:srgbClr val="FFFFFF"/>
                </a:highlight>
                <a:latin typeface="Roboto Light"/>
                <a:ea typeface="Roboto Light"/>
                <a:cs typeface="Roboto Light"/>
                <a:sym typeface="Roboto Light"/>
              </a:rPr>
              <a:t>Cost of Carry - Build wrong and carry it</a:t>
            </a:r>
            <a:endParaRPr sz="1350">
              <a:solidFill>
                <a:srgbClr val="273239"/>
              </a:solidFill>
              <a:highlight>
                <a:srgbClr val="FFFFFF"/>
              </a:highlight>
              <a:latin typeface="Roboto Light"/>
              <a:ea typeface="Roboto Light"/>
              <a:cs typeface="Roboto Light"/>
              <a:sym typeface="Roboto Light"/>
            </a:endParaRPr>
          </a:p>
          <a:p>
            <a:pPr indent="-314325" lvl="0" marL="685800" rtl="0" algn="l">
              <a:lnSpc>
                <a:spcPct val="158000"/>
              </a:lnSpc>
              <a:spcBef>
                <a:spcPts val="0"/>
              </a:spcBef>
              <a:spcAft>
                <a:spcPts val="0"/>
              </a:spcAft>
              <a:buClr>
                <a:srgbClr val="273239"/>
              </a:buClr>
              <a:buSzPts val="1350"/>
              <a:buFont typeface="Roboto Light"/>
              <a:buChar char="●"/>
            </a:pPr>
            <a:r>
              <a:rPr lang="en" sz="1350">
                <a:solidFill>
                  <a:srgbClr val="273239"/>
                </a:solidFill>
                <a:highlight>
                  <a:srgbClr val="FFFFFF"/>
                </a:highlight>
                <a:latin typeface="Roboto Light"/>
                <a:ea typeface="Roboto Light"/>
                <a:cs typeface="Roboto Light"/>
                <a:sym typeface="Roboto Light"/>
              </a:rPr>
              <a:t>Cost of Repair - Build wrong and repair overtime</a:t>
            </a:r>
            <a:endParaRPr sz="1350">
              <a:solidFill>
                <a:srgbClr val="273239"/>
              </a:solidFill>
              <a:highlight>
                <a:srgbClr val="FFFFFF"/>
              </a:highlight>
              <a:latin typeface="Roboto Light"/>
              <a:ea typeface="Roboto Light"/>
              <a:cs typeface="Roboto Light"/>
              <a:sym typeface="Roboto Light"/>
            </a:endParaRPr>
          </a:p>
        </p:txBody>
      </p:sp>
      <p:sp>
        <p:nvSpPr>
          <p:cNvPr id="365" name="Google Shape;365;p51"/>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YAGNI (You ain’t gonna need it)</a:t>
            </a:r>
            <a:endParaRPr sz="3500">
              <a:latin typeface="Roboto Light"/>
              <a:ea typeface="Roboto Light"/>
              <a:cs typeface="Roboto Light"/>
              <a:sym typeface="Roboto Light"/>
            </a:endParaRPr>
          </a:p>
        </p:txBody>
      </p:sp>
      <p:sp>
        <p:nvSpPr>
          <p:cNvPr id="366" name="Google Shape;366;p51"/>
          <p:cNvSpPr txBox="1"/>
          <p:nvPr/>
        </p:nvSpPr>
        <p:spPr>
          <a:xfrm>
            <a:off x="832775" y="995850"/>
            <a:ext cx="3581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Roboto"/>
                <a:ea typeface="Roboto"/>
                <a:cs typeface="Roboto"/>
                <a:sym typeface="Roboto"/>
              </a:rPr>
              <a:t>Why YAGNI…</a:t>
            </a:r>
            <a:endParaRPr sz="1800">
              <a:solidFill>
                <a:schemeClr val="dk1"/>
              </a:solidFill>
              <a:latin typeface="Roboto"/>
              <a:ea typeface="Roboto"/>
              <a:cs typeface="Roboto"/>
              <a:sym typeface="Roboto"/>
            </a:endParaRPr>
          </a:p>
        </p:txBody>
      </p:sp>
      <p:sp>
        <p:nvSpPr>
          <p:cNvPr id="367" name="Google Shape;367;p51"/>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3">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2"/>
          <p:cNvSpPr/>
          <p:nvPr/>
        </p:nvSpPr>
        <p:spPr>
          <a:xfrm>
            <a:off x="0" y="760800"/>
            <a:ext cx="4572000" cy="408270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 sz="1800">
                <a:solidFill>
                  <a:schemeClr val="dk1"/>
                </a:solidFill>
                <a:latin typeface="Roboto Light"/>
                <a:ea typeface="Roboto Light"/>
                <a:cs typeface="Roboto Light"/>
                <a:sym typeface="Roboto Light"/>
              </a:rPr>
              <a:t>“Any intelligent fool can make things bigger, more complex, and more violent. It takes a touch of genius—and a lot of courage to move in the opposite direction”</a:t>
            </a: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400">
              <a:solidFill>
                <a:schemeClr val="dk1"/>
              </a:solidFill>
              <a:latin typeface="Roboto Light"/>
              <a:ea typeface="Roboto Light"/>
              <a:cs typeface="Roboto Light"/>
              <a:sym typeface="Roboto Light"/>
            </a:endParaRPr>
          </a:p>
          <a:p>
            <a:pPr indent="0" lvl="0" marL="0" marR="0" rtl="0" algn="ctr">
              <a:spcBef>
                <a:spcPts val="0"/>
              </a:spcBef>
              <a:spcAft>
                <a:spcPts val="0"/>
              </a:spcAft>
              <a:buNone/>
            </a:pPr>
            <a:r>
              <a:rPr lang="en" sz="600">
                <a:solidFill>
                  <a:schemeClr val="dk1"/>
                </a:solidFill>
                <a:latin typeface="Roboto Light"/>
                <a:ea typeface="Roboto Light"/>
                <a:cs typeface="Roboto Light"/>
                <a:sym typeface="Roboto Light"/>
              </a:rPr>
              <a:t>-</a:t>
            </a:r>
            <a:r>
              <a:rPr lang="en" sz="1000">
                <a:solidFill>
                  <a:schemeClr val="dk1"/>
                </a:solidFill>
                <a:latin typeface="Roboto Light"/>
                <a:ea typeface="Roboto Light"/>
                <a:cs typeface="Roboto Light"/>
                <a:sym typeface="Roboto Light"/>
              </a:rPr>
              <a:t> E. F. Schumacher</a:t>
            </a:r>
            <a:endParaRPr sz="300">
              <a:latin typeface="Roboto Light"/>
              <a:ea typeface="Roboto Light"/>
              <a:cs typeface="Roboto Light"/>
              <a:sym typeface="Roboto Light"/>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52"/>
          <p:cNvSpPr txBox="1"/>
          <p:nvPr/>
        </p:nvSpPr>
        <p:spPr>
          <a:xfrm>
            <a:off x="0" y="0"/>
            <a:ext cx="9144000" cy="760800"/>
          </a:xfrm>
          <a:prstGeom prst="rect">
            <a:avLst/>
          </a:prstGeom>
          <a:solidFill>
            <a:srgbClr val="0F243E"/>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4400"/>
              <a:buFont typeface="Calibri"/>
              <a:buNone/>
            </a:pPr>
            <a:r>
              <a:rPr lang="en" sz="3500">
                <a:solidFill>
                  <a:schemeClr val="lt1"/>
                </a:solidFill>
                <a:latin typeface="Roboto Light"/>
                <a:ea typeface="Roboto Light"/>
                <a:cs typeface="Roboto Light"/>
                <a:sym typeface="Roboto Light"/>
              </a:rPr>
              <a:t>KISS (Keep It Simple &amp; Stupid)</a:t>
            </a:r>
            <a:endParaRPr sz="3500">
              <a:latin typeface="Roboto Light"/>
              <a:ea typeface="Roboto Light"/>
              <a:cs typeface="Roboto Light"/>
              <a:sym typeface="Roboto Light"/>
            </a:endParaRPr>
          </a:p>
        </p:txBody>
      </p:sp>
      <p:pic>
        <p:nvPicPr>
          <p:cNvPr id="374" name="Google Shape;374;p52"/>
          <p:cNvPicPr preferRelativeResize="0"/>
          <p:nvPr/>
        </p:nvPicPr>
        <p:blipFill>
          <a:blip r:embed="rId3">
            <a:alphaModFix/>
          </a:blip>
          <a:stretch>
            <a:fillRect/>
          </a:stretch>
        </p:blipFill>
        <p:spPr>
          <a:xfrm>
            <a:off x="4572000" y="1412392"/>
            <a:ext cx="4571999" cy="3430984"/>
          </a:xfrm>
          <a:prstGeom prst="rect">
            <a:avLst/>
          </a:prstGeom>
          <a:noFill/>
          <a:ln>
            <a:noFill/>
          </a:ln>
        </p:spPr>
      </p:pic>
      <p:sp>
        <p:nvSpPr>
          <p:cNvPr id="375" name="Google Shape;375;p52"/>
          <p:cNvSpPr txBox="1"/>
          <p:nvPr/>
        </p:nvSpPr>
        <p:spPr>
          <a:xfrm>
            <a:off x="0" y="4843375"/>
            <a:ext cx="9144000" cy="300000"/>
          </a:xfrm>
          <a:prstGeom prst="rect">
            <a:avLst/>
          </a:prstGeom>
          <a:solidFill>
            <a:srgbClr val="2012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rgbClr val="0097A7"/>
                </a:solidFill>
                <a:hlinkClick r:id="rId4">
                  <a:extLst>
                    <a:ext uri="{A12FA001-AC4F-418D-AE19-62706E023703}">
                      <ahyp:hlinkClr val="tx"/>
                    </a:ext>
                  </a:extLst>
                </a:hlinkClick>
              </a:rPr>
              <a:t>learnwithtiemoon.com/professional-oop</a:t>
            </a:r>
            <a:endParaRPr sz="1000">
              <a:solidFill>
                <a:srgbClr val="B7B7B7"/>
              </a:solidFill>
              <a:latin typeface="Roboto Light"/>
              <a:ea typeface="Roboto Light"/>
              <a:cs typeface="Roboto Light"/>
              <a:sym typeface="Robot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